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2"/>
    <p:sldId id="257" r:id="rId3"/>
    <p:sldId id="258" r:id="rId4"/>
    <p:sldId id="259" r:id="rId5"/>
    <p:sldId id="273" r:id="rId6"/>
    <p:sldId id="275" r:id="rId7"/>
    <p:sldId id="276" r:id="rId8"/>
    <p:sldId id="261" r:id="rId9"/>
    <p:sldId id="270" r:id="rId10"/>
    <p:sldId id="263" r:id="rId11"/>
    <p:sldId id="264" r:id="rId12"/>
    <p:sldId id="265" r:id="rId13"/>
    <p:sldId id="274" r:id="rId14"/>
    <p:sldId id="266" r:id="rId15"/>
    <p:sldId id="267" r:id="rId16"/>
  </p:sldIdLst>
  <p:sldSz cx="8128000" cy="4572000"/>
  <p:notesSz cx="8128000" cy="4572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>
        <p:scale>
          <a:sx n="100" d="100"/>
          <a:sy n="100" d="100"/>
        </p:scale>
        <p:origin x="-640" y="-1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AD9421-44EE-416B-90E8-E4CD132EAC4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0C1ED9D-9B78-4ED3-819D-3D4899E333E2}">
      <dgm:prSet phldrT="[Text]" custT="1"/>
      <dgm:spPr/>
      <dgm:t>
        <a:bodyPr/>
        <a:lstStyle/>
        <a:p>
          <a:pPr algn="ctr"/>
          <a:r>
            <a:rPr lang="en-IN" sz="1400" b="1" spc="10" dirty="0" smtClean="0">
              <a:solidFill>
                <a:srgbClr val="232323"/>
              </a:solidFill>
              <a:latin typeface="Calibri"/>
              <a:cs typeface="Calibri"/>
            </a:rPr>
            <a:t>Experimental</a:t>
          </a:r>
          <a:r>
            <a:rPr lang="en-IN" sz="1400" b="1" spc="8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400" b="1" spc="10" dirty="0" smtClean="0">
              <a:solidFill>
                <a:srgbClr val="232323"/>
              </a:solidFill>
              <a:latin typeface="Calibri"/>
              <a:cs typeface="Calibri"/>
            </a:rPr>
            <a:t>methodology</a:t>
          </a:r>
          <a:endParaRPr lang="en-IN" sz="1400" b="1" dirty="0" smtClean="0">
            <a:latin typeface="Calibri"/>
            <a:cs typeface="Calibri"/>
          </a:endParaRPr>
        </a:p>
        <a:p>
          <a:pPr algn="ctr"/>
          <a:r>
            <a:rPr lang="en-IN" sz="1200" b="0" spc="-60" dirty="0" smtClean="0">
              <a:solidFill>
                <a:srgbClr val="232323"/>
              </a:solidFill>
              <a:latin typeface="Calibri"/>
              <a:cs typeface="Calibri"/>
            </a:rPr>
            <a:t>A</a:t>
          </a:r>
          <a:r>
            <a:rPr lang="en-IN" sz="1200" b="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b="0" spc="-30" dirty="0" smtClean="0">
              <a:solidFill>
                <a:srgbClr val="212121"/>
              </a:solidFill>
              <a:latin typeface="Calibri"/>
              <a:cs typeface="Calibri"/>
            </a:rPr>
            <a:t>structured</a:t>
          </a:r>
          <a:r>
            <a:rPr lang="en-IN" sz="1200" b="0" spc="20" dirty="0" smtClean="0">
              <a:solidFill>
                <a:srgbClr val="212121"/>
              </a:solidFill>
              <a:latin typeface="Calibri"/>
              <a:cs typeface="Calibri"/>
            </a:rPr>
            <a:t> </a:t>
          </a:r>
          <a:r>
            <a:rPr lang="en-IN" sz="1200" b="0" spc="-30" dirty="0" smtClean="0">
              <a:solidFill>
                <a:srgbClr val="232323"/>
              </a:solidFill>
              <a:latin typeface="Calibri"/>
              <a:cs typeface="Calibri"/>
            </a:rPr>
            <a:t>experimental</a:t>
          </a:r>
          <a:r>
            <a:rPr lang="en-IN" sz="1200" b="0" spc="2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b="0" spc="-40" dirty="0" smtClean="0">
              <a:solidFill>
                <a:srgbClr val="232323"/>
              </a:solidFill>
              <a:latin typeface="Calibri"/>
              <a:cs typeface="Calibri"/>
            </a:rPr>
            <a:t>methodology</a:t>
          </a:r>
          <a:r>
            <a:rPr lang="en-IN" sz="1200" b="0" spc="8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b="0" spc="-25" dirty="0" smtClean="0">
              <a:solidFill>
                <a:srgbClr val="242424"/>
              </a:solidFill>
              <a:latin typeface="Calibri"/>
              <a:cs typeface="Calibri"/>
            </a:rPr>
            <a:t>is</a:t>
          </a:r>
          <a:r>
            <a:rPr lang="en-IN" sz="1200" b="0" spc="500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b="0" spc="-20" dirty="0" smtClean="0">
              <a:solidFill>
                <a:srgbClr val="232323"/>
              </a:solidFill>
              <a:latin typeface="Calibri"/>
              <a:cs typeface="Calibri"/>
            </a:rPr>
            <a:t>essential</a:t>
          </a:r>
          <a:r>
            <a:rPr lang="en-IN" sz="1200" b="0" spc="1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b="0" spc="-50" dirty="0" smtClean="0">
              <a:solidFill>
                <a:srgbClr val="242424"/>
              </a:solidFill>
              <a:latin typeface="Calibri"/>
              <a:cs typeface="Calibri"/>
            </a:rPr>
            <a:t>for</a:t>
          </a:r>
          <a:r>
            <a:rPr lang="en-IN" sz="1200" b="0" spc="-20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b="0" spc="-30" dirty="0" smtClean="0">
              <a:solidFill>
                <a:srgbClr val="232323"/>
              </a:solidFill>
              <a:latin typeface="Calibri"/>
              <a:cs typeface="Calibri"/>
            </a:rPr>
            <a:t>evaluating</a:t>
          </a:r>
          <a:r>
            <a:rPr lang="en-IN" sz="1200" b="0" spc="3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b="0" spc="-35" dirty="0" smtClean="0">
              <a:solidFill>
                <a:srgbClr val="232323"/>
              </a:solidFill>
              <a:latin typeface="Calibri"/>
              <a:cs typeface="Calibri"/>
            </a:rPr>
            <a:t>the</a:t>
          </a:r>
          <a:r>
            <a:rPr lang="en-IN" sz="1200" b="0" spc="-4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b="0" spc="-30" dirty="0" smtClean="0">
              <a:solidFill>
                <a:srgbClr val="232323"/>
              </a:solidFill>
              <a:latin typeface="Calibri"/>
              <a:cs typeface="Calibri"/>
            </a:rPr>
            <a:t>proposed</a:t>
          </a:r>
          <a:r>
            <a:rPr lang="en-IN" sz="1200" b="0" spc="4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b="0" spc="-10" dirty="0" smtClean="0">
              <a:solidFill>
                <a:srgbClr val="242424"/>
              </a:solidFill>
              <a:latin typeface="Calibri"/>
              <a:cs typeface="Calibri"/>
            </a:rPr>
            <a:t>system</a:t>
          </a:r>
          <a:r>
            <a:rPr lang="en-IN" sz="1200" b="0" spc="500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b="0" spc="-10" dirty="0" smtClean="0">
              <a:solidFill>
                <a:srgbClr val="242424"/>
              </a:solidFill>
              <a:latin typeface="Calibri"/>
              <a:cs typeface="Calibri"/>
            </a:rPr>
            <a:t>effectively.</a:t>
          </a:r>
          <a:endParaRPr lang="en-US" sz="1200" b="0" dirty="0"/>
        </a:p>
      </dgm:t>
    </dgm:pt>
    <dgm:pt modelId="{737BF37C-65E2-4890-BE3D-FE6A5AA9A6F7}" type="parTrans" cxnId="{2936E24C-EA72-4AF9-8F07-AB2764EE7638}">
      <dgm:prSet/>
      <dgm:spPr/>
      <dgm:t>
        <a:bodyPr/>
        <a:lstStyle/>
        <a:p>
          <a:endParaRPr lang="en-US"/>
        </a:p>
      </dgm:t>
    </dgm:pt>
    <dgm:pt modelId="{6B3CC49A-216A-433E-BCF8-07B742078567}" type="sibTrans" cxnId="{2936E24C-EA72-4AF9-8F07-AB2764EE7638}">
      <dgm:prSet/>
      <dgm:spPr/>
      <dgm:t>
        <a:bodyPr/>
        <a:lstStyle/>
        <a:p>
          <a:endParaRPr lang="en-US"/>
        </a:p>
      </dgm:t>
    </dgm:pt>
    <dgm:pt modelId="{09F06F21-C2D6-415A-9978-06D5824CD0D3}">
      <dgm:prSet phldrT="[Text]" custT="1"/>
      <dgm:spPr/>
      <dgm:t>
        <a:bodyPr/>
        <a:lstStyle/>
        <a:p>
          <a:r>
            <a:rPr lang="en-IN" sz="1400" b="1" dirty="0" smtClean="0">
              <a:solidFill>
                <a:srgbClr val="232323"/>
              </a:solidFill>
              <a:latin typeface="Calibri"/>
              <a:cs typeface="Calibri"/>
            </a:rPr>
            <a:t>Controlled</a:t>
          </a:r>
          <a:r>
            <a:rPr lang="en-IN" sz="1400" b="1" spc="12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400" b="1" dirty="0" smtClean="0">
              <a:solidFill>
                <a:srgbClr val="242424"/>
              </a:solidFill>
              <a:latin typeface="Calibri"/>
              <a:cs typeface="Calibri"/>
            </a:rPr>
            <a:t>environment</a:t>
          </a:r>
          <a:r>
            <a:rPr lang="en-IN" sz="1400" b="1" spc="16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400" b="1" spc="-10" dirty="0" smtClean="0">
              <a:solidFill>
                <a:srgbClr val="232323"/>
              </a:solidFill>
              <a:latin typeface="Calibri"/>
              <a:cs typeface="Calibri"/>
            </a:rPr>
            <a:t>setup</a:t>
          </a:r>
          <a:endParaRPr lang="en-IN" sz="1400" b="1" dirty="0" smtClean="0">
            <a:latin typeface="Calibri"/>
            <a:cs typeface="Calibri"/>
          </a:endParaRPr>
        </a:p>
        <a:p>
          <a:r>
            <a:rPr lang="en-IN" sz="1200" dirty="0" smtClean="0">
              <a:solidFill>
                <a:srgbClr val="232323"/>
              </a:solidFill>
              <a:latin typeface="Calibri"/>
              <a:cs typeface="Calibri"/>
            </a:rPr>
            <a:t>Establishing</a:t>
          </a:r>
          <a:r>
            <a:rPr lang="en-IN" sz="1200" spc="3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dirty="0" smtClean="0">
              <a:solidFill>
                <a:srgbClr val="282828"/>
              </a:solidFill>
              <a:latin typeface="Calibri"/>
              <a:cs typeface="Calibri"/>
            </a:rPr>
            <a:t>a</a:t>
          </a:r>
          <a:r>
            <a:rPr lang="en-IN" sz="1200" spc="-20" dirty="0" smtClean="0">
              <a:solidFill>
                <a:srgbClr val="282828"/>
              </a:solidFill>
              <a:latin typeface="Calibri"/>
              <a:cs typeface="Calibri"/>
            </a:rPr>
            <a:t> </a:t>
          </a:r>
          <a:r>
            <a:rPr lang="en-IN" sz="1200" spc="-10" dirty="0" smtClean="0">
              <a:solidFill>
                <a:srgbClr val="232323"/>
              </a:solidFill>
              <a:latin typeface="Calibri"/>
              <a:cs typeface="Calibri"/>
            </a:rPr>
            <a:t>controlled</a:t>
          </a:r>
          <a:r>
            <a:rPr lang="en-IN" sz="1200" spc="2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10" dirty="0" smtClean="0">
              <a:solidFill>
                <a:srgbClr val="232323"/>
              </a:solidFill>
              <a:latin typeface="Calibri"/>
              <a:cs typeface="Calibri"/>
            </a:rPr>
            <a:t>environment</a:t>
          </a:r>
          <a:r>
            <a:rPr lang="en-IN" sz="1200" spc="5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dirty="0" smtClean="0">
              <a:solidFill>
                <a:srgbClr val="262626"/>
              </a:solidFill>
              <a:latin typeface="Calibri"/>
              <a:cs typeface="Calibri"/>
            </a:rPr>
            <a:t>is</a:t>
          </a:r>
          <a:r>
            <a:rPr lang="en-IN" sz="1200" spc="-50" dirty="0" smtClean="0">
              <a:solidFill>
                <a:srgbClr val="262626"/>
              </a:solidFill>
              <a:latin typeface="Calibri"/>
              <a:cs typeface="Calibri"/>
            </a:rPr>
            <a:t> </a:t>
          </a:r>
          <a:r>
            <a:rPr lang="en-IN" sz="1200" dirty="0" smtClean="0">
              <a:solidFill>
                <a:srgbClr val="242424"/>
              </a:solidFill>
              <a:latin typeface="Calibri"/>
              <a:cs typeface="Calibri"/>
            </a:rPr>
            <a:t>crucial</a:t>
          </a:r>
          <a:r>
            <a:rPr lang="en-IN" sz="1200" spc="-3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spc="-25" dirty="0" smtClean="0">
              <a:solidFill>
                <a:srgbClr val="262626"/>
              </a:solidFill>
              <a:latin typeface="Calibri"/>
              <a:cs typeface="Calibri"/>
            </a:rPr>
            <a:t>for</a:t>
          </a:r>
          <a:r>
            <a:rPr lang="en-IN" sz="1200" spc="500" dirty="0" smtClean="0">
              <a:solidFill>
                <a:srgbClr val="262626"/>
              </a:solidFill>
              <a:latin typeface="Calibri"/>
              <a:cs typeface="Calibri"/>
            </a:rPr>
            <a:t> </a:t>
          </a:r>
          <a:r>
            <a:rPr lang="en-IN" sz="1200" spc="-10" dirty="0" smtClean="0">
              <a:solidFill>
                <a:srgbClr val="242424"/>
              </a:solidFill>
              <a:latin typeface="Calibri"/>
              <a:cs typeface="Calibri"/>
            </a:rPr>
            <a:t>minimizing</a:t>
          </a:r>
          <a:r>
            <a:rPr lang="en-IN" sz="1200" spc="1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spc="-10" dirty="0" smtClean="0">
              <a:solidFill>
                <a:srgbClr val="242424"/>
              </a:solidFill>
              <a:latin typeface="Calibri"/>
              <a:cs typeface="Calibri"/>
            </a:rPr>
            <a:t>external</a:t>
          </a:r>
          <a:r>
            <a:rPr lang="en-IN" sz="1200" spc="-2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dirty="0" smtClean="0">
              <a:solidFill>
                <a:srgbClr val="232323"/>
              </a:solidFill>
              <a:latin typeface="Calibri"/>
              <a:cs typeface="Calibri"/>
            </a:rPr>
            <a:t>variables</a:t>
          </a:r>
          <a:r>
            <a:rPr lang="en-IN" sz="1200" spc="3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20" dirty="0" smtClean="0">
              <a:solidFill>
                <a:srgbClr val="242424"/>
              </a:solidFill>
              <a:latin typeface="Calibri"/>
              <a:cs typeface="Calibri"/>
            </a:rPr>
            <a:t>that</a:t>
          </a:r>
          <a:r>
            <a:rPr lang="en-IN" sz="1200" spc="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spc="-10" dirty="0" smtClean="0">
              <a:solidFill>
                <a:srgbClr val="232323"/>
              </a:solidFill>
              <a:latin typeface="Calibri"/>
              <a:cs typeface="Calibri"/>
            </a:rPr>
            <a:t>might</a:t>
          </a:r>
          <a:r>
            <a:rPr lang="en-IN" sz="1200" spc="1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10" dirty="0" smtClean="0">
              <a:solidFill>
                <a:srgbClr val="232323"/>
              </a:solidFill>
              <a:latin typeface="Calibri"/>
              <a:cs typeface="Calibri"/>
            </a:rPr>
            <a:t>affect results.</a:t>
          </a:r>
          <a:endParaRPr lang="en-US" sz="1200" dirty="0"/>
        </a:p>
      </dgm:t>
    </dgm:pt>
    <dgm:pt modelId="{99A4EC06-E10E-49DD-8D90-9C4A87B80CE2}" type="parTrans" cxnId="{23C3FBA4-1C9D-4ABE-AA6C-936E432320FC}">
      <dgm:prSet/>
      <dgm:spPr/>
      <dgm:t>
        <a:bodyPr/>
        <a:lstStyle/>
        <a:p>
          <a:endParaRPr lang="en-US"/>
        </a:p>
      </dgm:t>
    </dgm:pt>
    <dgm:pt modelId="{C8ED48AC-80E1-49E8-90A4-9360BA4F13D5}" type="sibTrans" cxnId="{23C3FBA4-1C9D-4ABE-AA6C-936E432320FC}">
      <dgm:prSet/>
      <dgm:spPr/>
      <dgm:t>
        <a:bodyPr/>
        <a:lstStyle/>
        <a:p>
          <a:endParaRPr lang="en-US"/>
        </a:p>
      </dgm:t>
    </dgm:pt>
    <dgm:pt modelId="{23D569C8-69CE-4125-B8D8-D133B0CA0CA4}">
      <dgm:prSet phldrT="[Text]" custT="1"/>
      <dgm:spPr/>
      <dgm:t>
        <a:bodyPr/>
        <a:lstStyle/>
        <a:p>
          <a:r>
            <a:rPr lang="en-IN" sz="1400" b="1" dirty="0" smtClean="0">
              <a:solidFill>
                <a:srgbClr val="242424"/>
              </a:solidFill>
              <a:latin typeface="Calibri"/>
              <a:cs typeface="Calibri"/>
            </a:rPr>
            <a:t>Evaluation</a:t>
          </a:r>
          <a:r>
            <a:rPr lang="en-IN" sz="1400" b="1" spc="200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400" b="1" dirty="0" smtClean="0">
              <a:solidFill>
                <a:srgbClr val="242424"/>
              </a:solidFill>
              <a:latin typeface="Calibri"/>
              <a:cs typeface="Calibri"/>
            </a:rPr>
            <a:t>metrics</a:t>
          </a:r>
          <a:r>
            <a:rPr lang="en-IN" sz="1400" b="1" spc="14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400" b="1" spc="-10" dirty="0" smtClean="0">
              <a:solidFill>
                <a:srgbClr val="232323"/>
              </a:solidFill>
              <a:latin typeface="Calibri"/>
              <a:cs typeface="Calibri"/>
            </a:rPr>
            <a:t>definition</a:t>
          </a:r>
          <a:endParaRPr lang="en-IN" sz="1400" b="1" dirty="0" smtClean="0">
            <a:latin typeface="Calibri"/>
            <a:cs typeface="Calibri"/>
          </a:endParaRPr>
        </a:p>
        <a:p>
          <a:r>
            <a:rPr lang="en-IN" sz="1200" spc="-30" dirty="0" smtClean="0">
              <a:solidFill>
                <a:srgbClr val="232323"/>
              </a:solidFill>
              <a:latin typeface="Calibri"/>
              <a:cs typeface="Calibri"/>
            </a:rPr>
            <a:t>Defining</a:t>
          </a:r>
          <a:r>
            <a:rPr lang="en-IN" sz="1200" spc="1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35" dirty="0" smtClean="0">
              <a:solidFill>
                <a:srgbClr val="232323"/>
              </a:solidFill>
              <a:latin typeface="Calibri"/>
              <a:cs typeface="Calibri"/>
            </a:rPr>
            <a:t>evaluation</a:t>
          </a:r>
          <a:r>
            <a:rPr lang="en-IN" sz="1200" spc="-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25" dirty="0" smtClean="0">
              <a:solidFill>
                <a:srgbClr val="232323"/>
              </a:solidFill>
              <a:latin typeface="Calibri"/>
              <a:cs typeface="Calibri"/>
            </a:rPr>
            <a:t>metrics</a:t>
          </a:r>
          <a:r>
            <a:rPr lang="en-IN" sz="1200" spc="3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25" dirty="0" smtClean="0">
              <a:solidFill>
                <a:srgbClr val="262626"/>
              </a:solidFill>
              <a:latin typeface="Calibri"/>
              <a:cs typeface="Calibri"/>
            </a:rPr>
            <a:t>like</a:t>
          </a:r>
          <a:r>
            <a:rPr lang="en-IN" sz="1200" spc="-40" dirty="0" smtClean="0">
              <a:solidFill>
                <a:srgbClr val="262626"/>
              </a:solidFill>
              <a:latin typeface="Calibri"/>
              <a:cs typeface="Calibri"/>
            </a:rPr>
            <a:t> </a:t>
          </a:r>
          <a:r>
            <a:rPr lang="en-IN" sz="1200" spc="-10" dirty="0" smtClean="0">
              <a:solidFill>
                <a:srgbClr val="242424"/>
              </a:solidFill>
              <a:latin typeface="Calibri"/>
              <a:cs typeface="Calibri"/>
            </a:rPr>
            <a:t>accuracy,</a:t>
          </a:r>
          <a:r>
            <a:rPr lang="en-IN" sz="1200" spc="500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spc="-30" dirty="0" smtClean="0">
              <a:solidFill>
                <a:srgbClr val="232323"/>
              </a:solidFill>
              <a:latin typeface="Calibri"/>
              <a:cs typeface="Calibri"/>
            </a:rPr>
            <a:t>precision,</a:t>
          </a:r>
          <a:r>
            <a:rPr lang="en-IN" sz="1200" spc="2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20" dirty="0" smtClean="0">
              <a:solidFill>
                <a:srgbClr val="232323"/>
              </a:solidFill>
              <a:latin typeface="Calibri"/>
              <a:cs typeface="Calibri"/>
            </a:rPr>
            <a:t>recall,</a:t>
          </a:r>
          <a:r>
            <a:rPr lang="en-IN" sz="120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30" dirty="0" smtClean="0">
              <a:solidFill>
                <a:srgbClr val="232323"/>
              </a:solidFill>
              <a:latin typeface="Calibri"/>
              <a:cs typeface="Calibri"/>
            </a:rPr>
            <a:t>and</a:t>
          </a:r>
          <a:r>
            <a:rPr lang="en-IN" sz="1200" spc="-10" dirty="0" smtClean="0">
              <a:solidFill>
                <a:srgbClr val="232323"/>
              </a:solidFill>
              <a:latin typeface="Calibri"/>
              <a:cs typeface="Calibri"/>
            </a:rPr>
            <a:t> F1-</a:t>
          </a:r>
          <a:r>
            <a:rPr lang="en-IN" sz="1200" dirty="0" smtClean="0">
              <a:solidFill>
                <a:srgbClr val="232323"/>
              </a:solidFill>
              <a:latin typeface="Calibri"/>
              <a:cs typeface="Calibri"/>
            </a:rPr>
            <a:t>score</a:t>
          </a:r>
          <a:r>
            <a:rPr lang="en-IN" sz="1200" spc="-2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20" dirty="0" smtClean="0">
              <a:solidFill>
                <a:srgbClr val="232323"/>
              </a:solidFill>
              <a:latin typeface="Calibri"/>
              <a:cs typeface="Calibri"/>
            </a:rPr>
            <a:t>ensures</a:t>
          </a:r>
          <a:r>
            <a:rPr lang="en-IN" sz="1200" spc="1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10" dirty="0" smtClean="0">
              <a:solidFill>
                <a:srgbClr val="242424"/>
              </a:solidFill>
              <a:latin typeface="Calibri"/>
              <a:cs typeface="Calibri"/>
            </a:rPr>
            <a:t>robust</a:t>
          </a:r>
          <a:r>
            <a:rPr lang="en-IN" sz="1200" spc="500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spc="-35" dirty="0" smtClean="0">
              <a:solidFill>
                <a:srgbClr val="232323"/>
              </a:solidFill>
              <a:latin typeface="Calibri"/>
              <a:cs typeface="Calibri"/>
            </a:rPr>
            <a:t>model</a:t>
          </a:r>
          <a:r>
            <a:rPr lang="en-IN" sz="1200" spc="-2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10" dirty="0" smtClean="0">
              <a:solidFill>
                <a:srgbClr val="242424"/>
              </a:solidFill>
              <a:latin typeface="Calibri"/>
              <a:cs typeface="Calibri"/>
            </a:rPr>
            <a:t>assessment.</a:t>
          </a:r>
          <a:endParaRPr lang="en-US" sz="1200" dirty="0"/>
        </a:p>
      </dgm:t>
    </dgm:pt>
    <dgm:pt modelId="{458D3949-33EF-4A17-B32F-9DA3150DEE58}" type="parTrans" cxnId="{C2649F01-D9B7-4080-88E8-FF44D5B4E05F}">
      <dgm:prSet/>
      <dgm:spPr/>
      <dgm:t>
        <a:bodyPr/>
        <a:lstStyle/>
        <a:p>
          <a:endParaRPr lang="en-US"/>
        </a:p>
      </dgm:t>
    </dgm:pt>
    <dgm:pt modelId="{A9B28156-AD82-4284-A91E-71D98D635AB5}" type="sibTrans" cxnId="{C2649F01-D9B7-4080-88E8-FF44D5B4E05F}">
      <dgm:prSet/>
      <dgm:spPr/>
      <dgm:t>
        <a:bodyPr/>
        <a:lstStyle/>
        <a:p>
          <a:endParaRPr lang="en-US"/>
        </a:p>
      </dgm:t>
    </dgm:pt>
    <dgm:pt modelId="{DE828D58-BF7A-44D3-8FD8-9812B993D55A}">
      <dgm:prSet phldrT="[Text]" custT="1"/>
      <dgm:spPr/>
      <dgm:t>
        <a:bodyPr/>
        <a:lstStyle/>
        <a:p>
          <a:r>
            <a:rPr lang="en-IN" sz="1400" b="1" dirty="0" smtClean="0">
              <a:solidFill>
                <a:srgbClr val="242424"/>
              </a:solidFill>
              <a:latin typeface="Calibri"/>
              <a:cs typeface="Calibri"/>
            </a:rPr>
            <a:t>Real-world</a:t>
          </a:r>
          <a:r>
            <a:rPr lang="en-IN" sz="1400" b="1" spc="27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400" b="1" spc="-10" dirty="0" smtClean="0">
              <a:solidFill>
                <a:srgbClr val="242424"/>
              </a:solidFill>
              <a:latin typeface="Calibri"/>
              <a:cs typeface="Calibri"/>
            </a:rPr>
            <a:t>applicability</a:t>
          </a:r>
          <a:endParaRPr lang="en-IN" sz="1400" b="1" dirty="0" smtClean="0">
            <a:latin typeface="Calibri"/>
            <a:cs typeface="Calibri"/>
          </a:endParaRPr>
        </a:p>
        <a:p>
          <a:r>
            <a:rPr lang="en-IN" sz="1200" spc="-40" dirty="0" smtClean="0">
              <a:solidFill>
                <a:srgbClr val="262626"/>
              </a:solidFill>
              <a:latin typeface="Calibri"/>
              <a:cs typeface="Calibri"/>
            </a:rPr>
            <a:t>The</a:t>
          </a:r>
          <a:r>
            <a:rPr lang="en-IN" sz="1200" spc="-10" dirty="0" smtClean="0">
              <a:solidFill>
                <a:srgbClr val="262626"/>
              </a:solidFill>
              <a:latin typeface="Calibri"/>
              <a:cs typeface="Calibri"/>
            </a:rPr>
            <a:t> </a:t>
          </a:r>
          <a:r>
            <a:rPr lang="en-IN" sz="1200" spc="-35" dirty="0" smtClean="0">
              <a:solidFill>
                <a:srgbClr val="242424"/>
              </a:solidFill>
              <a:latin typeface="Calibri"/>
              <a:cs typeface="Calibri"/>
            </a:rPr>
            <a:t>methodology</a:t>
          </a:r>
          <a:r>
            <a:rPr lang="en-IN" sz="1200" spc="1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spc="-20" dirty="0" smtClean="0">
              <a:solidFill>
                <a:srgbClr val="232323"/>
              </a:solidFill>
              <a:latin typeface="Calibri"/>
              <a:cs typeface="Calibri"/>
            </a:rPr>
            <a:t>ensures</a:t>
          </a:r>
          <a:r>
            <a:rPr lang="en-IN" sz="1200" spc="1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30" dirty="0" smtClean="0">
              <a:solidFill>
                <a:srgbClr val="232323"/>
              </a:solidFill>
              <a:latin typeface="Calibri"/>
              <a:cs typeface="Calibri"/>
            </a:rPr>
            <a:t>that</a:t>
          </a:r>
          <a:r>
            <a:rPr lang="en-IN" sz="1200" spc="-1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35" dirty="0" smtClean="0">
              <a:solidFill>
                <a:srgbClr val="262626"/>
              </a:solidFill>
              <a:latin typeface="Calibri"/>
              <a:cs typeface="Calibri"/>
            </a:rPr>
            <a:t>the</a:t>
          </a:r>
          <a:r>
            <a:rPr lang="en-IN" sz="1200" spc="-15" dirty="0" smtClean="0">
              <a:solidFill>
                <a:srgbClr val="262626"/>
              </a:solidFill>
              <a:latin typeface="Calibri"/>
              <a:cs typeface="Calibri"/>
            </a:rPr>
            <a:t> </a:t>
          </a:r>
          <a:r>
            <a:rPr lang="en-IN" sz="1200" spc="-10" dirty="0" smtClean="0">
              <a:solidFill>
                <a:srgbClr val="232323"/>
              </a:solidFill>
              <a:latin typeface="Calibri"/>
              <a:cs typeface="Calibri"/>
            </a:rPr>
            <a:t>predictions</a:t>
          </a:r>
          <a:r>
            <a:rPr lang="en-IN" sz="1200" spc="50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40" dirty="0" smtClean="0">
              <a:solidFill>
                <a:srgbClr val="262626"/>
              </a:solidFill>
              <a:latin typeface="Calibri"/>
              <a:cs typeface="Calibri"/>
            </a:rPr>
            <a:t>made</a:t>
          </a:r>
          <a:r>
            <a:rPr lang="en-IN" sz="1200" spc="-5" dirty="0" smtClean="0">
              <a:solidFill>
                <a:srgbClr val="262626"/>
              </a:solidFill>
              <a:latin typeface="Calibri"/>
              <a:cs typeface="Calibri"/>
            </a:rPr>
            <a:t> </a:t>
          </a:r>
          <a:r>
            <a:rPr lang="en-IN" sz="1200" spc="-20" dirty="0" smtClean="0">
              <a:solidFill>
                <a:srgbClr val="232323"/>
              </a:solidFill>
              <a:latin typeface="Calibri"/>
              <a:cs typeface="Calibri"/>
            </a:rPr>
            <a:t>are</a:t>
          </a:r>
          <a:r>
            <a:rPr lang="en-IN" sz="1200" spc="1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30" dirty="0" smtClean="0">
              <a:solidFill>
                <a:srgbClr val="232323"/>
              </a:solidFill>
              <a:latin typeface="Calibri"/>
              <a:cs typeface="Calibri"/>
            </a:rPr>
            <a:t>reliable</a:t>
          </a:r>
          <a:r>
            <a:rPr lang="en-IN" sz="1200" spc="2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35" dirty="0" smtClean="0">
              <a:solidFill>
                <a:srgbClr val="262626"/>
              </a:solidFill>
              <a:latin typeface="Calibri"/>
              <a:cs typeface="Calibri"/>
            </a:rPr>
            <a:t>and</a:t>
          </a:r>
          <a:r>
            <a:rPr lang="en-IN" sz="1200" spc="-5" dirty="0" smtClean="0">
              <a:solidFill>
                <a:srgbClr val="262626"/>
              </a:solidFill>
              <a:latin typeface="Calibri"/>
              <a:cs typeface="Calibri"/>
            </a:rPr>
            <a:t> </a:t>
          </a:r>
          <a:r>
            <a:rPr lang="en-IN" sz="1200" spc="-20" dirty="0" smtClean="0">
              <a:solidFill>
                <a:srgbClr val="232323"/>
              </a:solidFill>
              <a:latin typeface="Calibri"/>
              <a:cs typeface="Calibri"/>
            </a:rPr>
            <a:t>applicable</a:t>
          </a:r>
          <a:r>
            <a:rPr lang="en-IN" sz="1200" spc="1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30" dirty="0" smtClean="0">
              <a:solidFill>
                <a:srgbClr val="242424"/>
              </a:solidFill>
              <a:latin typeface="Calibri"/>
              <a:cs typeface="Calibri"/>
            </a:rPr>
            <a:t>in</a:t>
          </a:r>
          <a:r>
            <a:rPr lang="en-IN" sz="1200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spc="-35" dirty="0" smtClean="0">
              <a:solidFill>
                <a:srgbClr val="232323"/>
              </a:solidFill>
              <a:latin typeface="Calibri"/>
              <a:cs typeface="Calibri"/>
            </a:rPr>
            <a:t>real-</a:t>
          </a:r>
          <a:r>
            <a:rPr lang="en-IN" sz="1200" spc="-10" dirty="0" smtClean="0">
              <a:solidFill>
                <a:srgbClr val="232323"/>
              </a:solidFill>
              <a:latin typeface="Calibri"/>
              <a:cs typeface="Calibri"/>
            </a:rPr>
            <a:t>world</a:t>
          </a:r>
          <a:r>
            <a:rPr lang="en-IN" sz="1200" spc="50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spc="-10" dirty="0" smtClean="0">
              <a:solidFill>
                <a:srgbClr val="242424"/>
              </a:solidFill>
              <a:latin typeface="Calibri"/>
              <a:cs typeface="Calibri"/>
            </a:rPr>
            <a:t>scenarios</a:t>
          </a:r>
          <a:endParaRPr lang="en-US" sz="1200" dirty="0"/>
        </a:p>
      </dgm:t>
    </dgm:pt>
    <dgm:pt modelId="{D623967F-55B9-44F2-AC23-982FE16317EB}" type="parTrans" cxnId="{FD32C3E4-D894-458D-A63F-305B3DA77473}">
      <dgm:prSet/>
      <dgm:spPr/>
      <dgm:t>
        <a:bodyPr/>
        <a:lstStyle/>
        <a:p>
          <a:endParaRPr lang="en-US"/>
        </a:p>
      </dgm:t>
    </dgm:pt>
    <dgm:pt modelId="{6451E408-CD08-47AA-B25F-ACFC26619316}" type="sibTrans" cxnId="{FD32C3E4-D894-458D-A63F-305B3DA77473}">
      <dgm:prSet/>
      <dgm:spPr/>
      <dgm:t>
        <a:bodyPr/>
        <a:lstStyle/>
        <a:p>
          <a:endParaRPr lang="en-US"/>
        </a:p>
      </dgm:t>
    </dgm:pt>
    <dgm:pt modelId="{BF5852A0-0D2D-4CC4-B999-C013A8285619}">
      <dgm:prSet custT="1"/>
      <dgm:spPr/>
      <dgm:t>
        <a:bodyPr/>
        <a:lstStyle/>
        <a:p>
          <a:r>
            <a:rPr lang="en-IN" sz="1400" b="1" spc="-30" dirty="0" smtClean="0">
              <a:solidFill>
                <a:srgbClr val="232A33"/>
              </a:solidFill>
              <a:latin typeface="+mn-lt"/>
              <a:cs typeface="Arial"/>
            </a:rPr>
            <a:t>Selection</a:t>
          </a:r>
          <a:r>
            <a:rPr lang="en-IN" sz="1400" b="1" spc="-15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400" b="1" spc="-10" dirty="0" smtClean="0">
              <a:solidFill>
                <a:srgbClr val="232A33"/>
              </a:solidFill>
              <a:latin typeface="+mn-lt"/>
              <a:cs typeface="Arial"/>
            </a:rPr>
            <a:t>of</a:t>
          </a:r>
          <a:r>
            <a:rPr lang="en-IN" sz="1400" b="1" spc="-25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400" b="1" spc="-35" dirty="0" smtClean="0">
              <a:solidFill>
                <a:srgbClr val="232A33"/>
              </a:solidFill>
              <a:latin typeface="+mn-lt"/>
              <a:cs typeface="Arial"/>
            </a:rPr>
            <a:t>machine</a:t>
          </a:r>
          <a:r>
            <a:rPr lang="en-IN" sz="1400" b="1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400" b="1" spc="-25" dirty="0" smtClean="0">
              <a:solidFill>
                <a:srgbClr val="232A33"/>
              </a:solidFill>
              <a:latin typeface="+mn-lt"/>
              <a:cs typeface="Arial"/>
            </a:rPr>
            <a:t>learning</a:t>
          </a:r>
          <a:r>
            <a:rPr lang="en-IN" sz="1400" b="1" spc="-45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400" b="1" spc="-10" dirty="0" smtClean="0">
              <a:solidFill>
                <a:srgbClr val="232A33"/>
              </a:solidFill>
              <a:latin typeface="+mn-lt"/>
              <a:cs typeface="Arial"/>
            </a:rPr>
            <a:t>models</a:t>
          </a:r>
        </a:p>
        <a:p>
          <a:r>
            <a:rPr lang="en-IN" sz="1200" spc="10" dirty="0" smtClean="0">
              <a:solidFill>
                <a:srgbClr val="343A41"/>
              </a:solidFill>
              <a:latin typeface="+mn-lt"/>
              <a:cs typeface="Arial"/>
            </a:rPr>
            <a:t>Choosing</a:t>
          </a:r>
          <a:r>
            <a:rPr lang="en-IN" sz="1200" spc="-5" dirty="0" smtClean="0">
              <a:solidFill>
                <a:srgbClr val="343A41"/>
              </a:solidFill>
              <a:latin typeface="+mn-lt"/>
              <a:cs typeface="Arial"/>
            </a:rPr>
            <a:t> </a:t>
          </a:r>
          <a:r>
            <a:rPr lang="en-IN" sz="1200" spc="10" dirty="0" smtClean="0">
              <a:solidFill>
                <a:srgbClr val="343A41"/>
              </a:solidFill>
              <a:latin typeface="+mn-lt"/>
              <a:cs typeface="Arial"/>
            </a:rPr>
            <a:t>appropriate</a:t>
          </a:r>
          <a:r>
            <a:rPr lang="en-IN" sz="1200" spc="114" dirty="0" smtClean="0">
              <a:solidFill>
                <a:srgbClr val="343A41"/>
              </a:solidFill>
              <a:latin typeface="+mn-lt"/>
              <a:cs typeface="Arial"/>
            </a:rPr>
            <a:t> </a:t>
          </a:r>
          <a:r>
            <a:rPr lang="en-IN" sz="1200" spc="10" dirty="0" smtClean="0">
              <a:solidFill>
                <a:srgbClr val="232A33"/>
              </a:solidFill>
              <a:latin typeface="+mn-lt"/>
              <a:cs typeface="Arial"/>
            </a:rPr>
            <a:t>machine</a:t>
          </a:r>
          <a:r>
            <a:rPr lang="en-IN" sz="1200" spc="85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200" spc="10" dirty="0" smtClean="0">
              <a:solidFill>
                <a:srgbClr val="232A33"/>
              </a:solidFill>
              <a:latin typeface="+mn-lt"/>
              <a:cs typeface="Arial"/>
            </a:rPr>
            <a:t>learning models</a:t>
          </a:r>
          <a:r>
            <a:rPr lang="en-IN" sz="1200" spc="85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200" spc="-25" dirty="0" smtClean="0">
              <a:solidFill>
                <a:srgbClr val="232A33"/>
              </a:solidFill>
              <a:latin typeface="+mn-lt"/>
              <a:cs typeface="Arial"/>
            </a:rPr>
            <a:t>is</a:t>
          </a:r>
          <a:r>
            <a:rPr lang="en-IN" sz="1200" spc="20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200" spc="20" dirty="0" smtClean="0">
              <a:solidFill>
                <a:srgbClr val="343A41"/>
              </a:solidFill>
              <a:latin typeface="+mn-lt"/>
              <a:cs typeface="Arial"/>
            </a:rPr>
            <a:t>vital</a:t>
          </a:r>
          <a:r>
            <a:rPr lang="en-IN" sz="1200" spc="-50" dirty="0" smtClean="0">
              <a:solidFill>
                <a:srgbClr val="343A41"/>
              </a:solidFill>
              <a:latin typeface="+mn-lt"/>
              <a:cs typeface="Arial"/>
            </a:rPr>
            <a:t> </a:t>
          </a:r>
          <a:r>
            <a:rPr lang="en-IN" sz="1200" spc="20" dirty="0" smtClean="0">
              <a:solidFill>
                <a:srgbClr val="343A41"/>
              </a:solidFill>
              <a:latin typeface="+mn-lt"/>
              <a:cs typeface="Arial"/>
            </a:rPr>
            <a:t>for</a:t>
          </a:r>
          <a:r>
            <a:rPr lang="en-IN" sz="1200" spc="-5" dirty="0" smtClean="0">
              <a:solidFill>
                <a:srgbClr val="343A41"/>
              </a:solidFill>
              <a:latin typeface="+mn-lt"/>
              <a:cs typeface="Arial"/>
            </a:rPr>
            <a:t> </a:t>
          </a:r>
          <a:r>
            <a:rPr lang="en-IN" sz="1200" spc="20" dirty="0" smtClean="0">
              <a:solidFill>
                <a:srgbClr val="343A41"/>
              </a:solidFill>
              <a:latin typeface="+mn-lt"/>
              <a:cs typeface="Arial"/>
            </a:rPr>
            <a:t>accurately</a:t>
          </a:r>
          <a:r>
            <a:rPr lang="en-IN" sz="1200" spc="55" dirty="0" smtClean="0">
              <a:solidFill>
                <a:srgbClr val="343A41"/>
              </a:solidFill>
              <a:latin typeface="+mn-lt"/>
              <a:cs typeface="Arial"/>
            </a:rPr>
            <a:t> </a:t>
          </a:r>
          <a:r>
            <a:rPr lang="en-IN" sz="1200" spc="20" dirty="0" smtClean="0">
              <a:solidFill>
                <a:srgbClr val="343A41"/>
              </a:solidFill>
              <a:latin typeface="+mn-lt"/>
              <a:cs typeface="Arial"/>
            </a:rPr>
            <a:t>predicting</a:t>
          </a:r>
          <a:r>
            <a:rPr lang="en-IN" sz="1200" spc="-25" dirty="0" smtClean="0">
              <a:solidFill>
                <a:srgbClr val="343A41"/>
              </a:solidFill>
              <a:latin typeface="+mn-lt"/>
              <a:cs typeface="Arial"/>
            </a:rPr>
            <a:t> </a:t>
          </a:r>
          <a:r>
            <a:rPr lang="en-IN" sz="1200" spc="20" dirty="0" smtClean="0">
              <a:solidFill>
                <a:srgbClr val="232A33"/>
              </a:solidFill>
              <a:latin typeface="+mn-lt"/>
              <a:cs typeface="Arial"/>
            </a:rPr>
            <a:t>flight</a:t>
          </a:r>
          <a:r>
            <a:rPr lang="en-IN" sz="1200" spc="35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200" spc="-10" dirty="0" smtClean="0">
              <a:solidFill>
                <a:srgbClr val="232A33"/>
              </a:solidFill>
              <a:latin typeface="+mn-lt"/>
              <a:cs typeface="Arial"/>
            </a:rPr>
            <a:t>delays</a:t>
          </a:r>
          <a:endParaRPr lang="en-IN" sz="1400" dirty="0">
            <a:latin typeface="+mn-lt"/>
            <a:cs typeface="Arial"/>
          </a:endParaRPr>
        </a:p>
      </dgm:t>
    </dgm:pt>
    <dgm:pt modelId="{CB272240-D43C-4E80-B03F-FCA8C22DF471}" type="parTrans" cxnId="{7DE7A0B8-19AC-4493-A9D3-DCD1C85D3189}">
      <dgm:prSet/>
      <dgm:spPr/>
      <dgm:t>
        <a:bodyPr/>
        <a:lstStyle/>
        <a:p>
          <a:endParaRPr lang="en-US"/>
        </a:p>
      </dgm:t>
    </dgm:pt>
    <dgm:pt modelId="{5EF0F58C-5EF8-40FC-927B-0DE8DA597C7F}" type="sibTrans" cxnId="{7DE7A0B8-19AC-4493-A9D3-DCD1C85D3189}">
      <dgm:prSet/>
      <dgm:spPr/>
      <dgm:t>
        <a:bodyPr/>
        <a:lstStyle/>
        <a:p>
          <a:endParaRPr lang="en-US"/>
        </a:p>
      </dgm:t>
    </dgm:pt>
    <dgm:pt modelId="{234105BF-6716-4F00-A33C-5A8AF2BA3879}" type="pres">
      <dgm:prSet presAssocID="{B3AD9421-44EE-416B-90E8-E4CD132EAC4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EB44A02-2571-4D03-882C-C5B0646C7D34}" type="pres">
      <dgm:prSet presAssocID="{30C1ED9D-9B78-4ED3-819D-3D4899E333E2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6AAE3B-3D54-436E-9221-2A4A7554A226}" type="pres">
      <dgm:prSet presAssocID="{6B3CC49A-216A-433E-BCF8-07B742078567}" presName="sibTrans" presStyleCnt="0"/>
      <dgm:spPr/>
    </dgm:pt>
    <dgm:pt modelId="{2C25D591-B8C6-4DB4-A13F-69F32AF49264}" type="pres">
      <dgm:prSet presAssocID="{09F06F21-C2D6-415A-9978-06D5824CD0D3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417C04-1F3A-4308-BC70-D83058E38F76}" type="pres">
      <dgm:prSet presAssocID="{C8ED48AC-80E1-49E8-90A4-9360BA4F13D5}" presName="sibTrans" presStyleCnt="0"/>
      <dgm:spPr/>
    </dgm:pt>
    <dgm:pt modelId="{D137ABF6-11FD-40D3-BBAC-3B3C5925D6B3}" type="pres">
      <dgm:prSet presAssocID="{23D569C8-69CE-4125-B8D8-D133B0CA0CA4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399B7C-9F78-4D29-9AB8-5BF5CD4858E3}" type="pres">
      <dgm:prSet presAssocID="{A9B28156-AD82-4284-A91E-71D98D635AB5}" presName="sibTrans" presStyleCnt="0"/>
      <dgm:spPr/>
    </dgm:pt>
    <dgm:pt modelId="{0F5807BF-5BD4-46AC-A0A3-1434FF64ACF9}" type="pres">
      <dgm:prSet presAssocID="{BF5852A0-0D2D-4CC4-B999-C013A8285619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9D0609-ED0E-49D5-843F-9B9ED8228434}" type="pres">
      <dgm:prSet presAssocID="{5EF0F58C-5EF8-40FC-927B-0DE8DA597C7F}" presName="sibTrans" presStyleCnt="0"/>
      <dgm:spPr/>
    </dgm:pt>
    <dgm:pt modelId="{F70DBD9C-97CB-4A15-9BB0-EBEEEF4053CB}" type="pres">
      <dgm:prSet presAssocID="{DE828D58-BF7A-44D3-8FD8-9812B993D55A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DE7A0B8-19AC-4493-A9D3-DCD1C85D3189}" srcId="{B3AD9421-44EE-416B-90E8-E4CD132EAC42}" destId="{BF5852A0-0D2D-4CC4-B999-C013A8285619}" srcOrd="3" destOrd="0" parTransId="{CB272240-D43C-4E80-B03F-FCA8C22DF471}" sibTransId="{5EF0F58C-5EF8-40FC-927B-0DE8DA597C7F}"/>
    <dgm:cxn modelId="{FA181C48-0A73-4144-8D3C-0DEB605DD6A6}" type="presOf" srcId="{30C1ED9D-9B78-4ED3-819D-3D4899E333E2}" destId="{7EB44A02-2571-4D03-882C-C5B0646C7D34}" srcOrd="0" destOrd="0" presId="urn:microsoft.com/office/officeart/2005/8/layout/default"/>
    <dgm:cxn modelId="{93D333BB-B4C6-4D3D-AB5F-24A582C2AD3F}" type="presOf" srcId="{23D569C8-69CE-4125-B8D8-D133B0CA0CA4}" destId="{D137ABF6-11FD-40D3-BBAC-3B3C5925D6B3}" srcOrd="0" destOrd="0" presId="urn:microsoft.com/office/officeart/2005/8/layout/default"/>
    <dgm:cxn modelId="{5A8BC942-A052-4430-9573-853929DA767A}" type="presOf" srcId="{B3AD9421-44EE-416B-90E8-E4CD132EAC42}" destId="{234105BF-6716-4F00-A33C-5A8AF2BA3879}" srcOrd="0" destOrd="0" presId="urn:microsoft.com/office/officeart/2005/8/layout/default"/>
    <dgm:cxn modelId="{2936E24C-EA72-4AF9-8F07-AB2764EE7638}" srcId="{B3AD9421-44EE-416B-90E8-E4CD132EAC42}" destId="{30C1ED9D-9B78-4ED3-819D-3D4899E333E2}" srcOrd="0" destOrd="0" parTransId="{737BF37C-65E2-4890-BE3D-FE6A5AA9A6F7}" sibTransId="{6B3CC49A-216A-433E-BCF8-07B742078567}"/>
    <dgm:cxn modelId="{54B0B05B-C818-4A6F-B75E-83FAB3175217}" type="presOf" srcId="{BF5852A0-0D2D-4CC4-B999-C013A8285619}" destId="{0F5807BF-5BD4-46AC-A0A3-1434FF64ACF9}" srcOrd="0" destOrd="0" presId="urn:microsoft.com/office/officeart/2005/8/layout/default"/>
    <dgm:cxn modelId="{4F9C7A9B-1DBE-4418-ABB2-FFCAD4BF8D7E}" type="presOf" srcId="{09F06F21-C2D6-415A-9978-06D5824CD0D3}" destId="{2C25D591-B8C6-4DB4-A13F-69F32AF49264}" srcOrd="0" destOrd="0" presId="urn:microsoft.com/office/officeart/2005/8/layout/default"/>
    <dgm:cxn modelId="{8F0D759A-D81D-4D30-987F-B621515C49BD}" type="presOf" srcId="{DE828D58-BF7A-44D3-8FD8-9812B993D55A}" destId="{F70DBD9C-97CB-4A15-9BB0-EBEEEF4053CB}" srcOrd="0" destOrd="0" presId="urn:microsoft.com/office/officeart/2005/8/layout/default"/>
    <dgm:cxn modelId="{23C3FBA4-1C9D-4ABE-AA6C-936E432320FC}" srcId="{B3AD9421-44EE-416B-90E8-E4CD132EAC42}" destId="{09F06F21-C2D6-415A-9978-06D5824CD0D3}" srcOrd="1" destOrd="0" parTransId="{99A4EC06-E10E-49DD-8D90-9C4A87B80CE2}" sibTransId="{C8ED48AC-80E1-49E8-90A4-9360BA4F13D5}"/>
    <dgm:cxn modelId="{FD32C3E4-D894-458D-A63F-305B3DA77473}" srcId="{B3AD9421-44EE-416B-90E8-E4CD132EAC42}" destId="{DE828D58-BF7A-44D3-8FD8-9812B993D55A}" srcOrd="4" destOrd="0" parTransId="{D623967F-55B9-44F2-AC23-982FE16317EB}" sibTransId="{6451E408-CD08-47AA-B25F-ACFC26619316}"/>
    <dgm:cxn modelId="{C2649F01-D9B7-4080-88E8-FF44D5B4E05F}" srcId="{B3AD9421-44EE-416B-90E8-E4CD132EAC42}" destId="{23D569C8-69CE-4125-B8D8-D133B0CA0CA4}" srcOrd="2" destOrd="0" parTransId="{458D3949-33EF-4A17-B32F-9DA3150DEE58}" sibTransId="{A9B28156-AD82-4284-A91E-71D98D635AB5}"/>
    <dgm:cxn modelId="{D7ACFF6C-1B50-43FD-A564-989B75526AC1}" type="presParOf" srcId="{234105BF-6716-4F00-A33C-5A8AF2BA3879}" destId="{7EB44A02-2571-4D03-882C-C5B0646C7D34}" srcOrd="0" destOrd="0" presId="urn:microsoft.com/office/officeart/2005/8/layout/default"/>
    <dgm:cxn modelId="{69AAAC78-A469-41B8-B358-0A7911E09CA5}" type="presParOf" srcId="{234105BF-6716-4F00-A33C-5A8AF2BA3879}" destId="{466AAE3B-3D54-436E-9221-2A4A7554A226}" srcOrd="1" destOrd="0" presId="urn:microsoft.com/office/officeart/2005/8/layout/default"/>
    <dgm:cxn modelId="{2ACBCB54-7C5C-4EBD-9BFD-6379EF8E82F7}" type="presParOf" srcId="{234105BF-6716-4F00-A33C-5A8AF2BA3879}" destId="{2C25D591-B8C6-4DB4-A13F-69F32AF49264}" srcOrd="2" destOrd="0" presId="urn:microsoft.com/office/officeart/2005/8/layout/default"/>
    <dgm:cxn modelId="{06ADC219-3C72-41DC-99E6-26F1A7FB74F2}" type="presParOf" srcId="{234105BF-6716-4F00-A33C-5A8AF2BA3879}" destId="{A0417C04-1F3A-4308-BC70-D83058E38F76}" srcOrd="3" destOrd="0" presId="urn:microsoft.com/office/officeart/2005/8/layout/default"/>
    <dgm:cxn modelId="{E4236A47-E76F-429A-9F31-D6BFFBDC1622}" type="presParOf" srcId="{234105BF-6716-4F00-A33C-5A8AF2BA3879}" destId="{D137ABF6-11FD-40D3-BBAC-3B3C5925D6B3}" srcOrd="4" destOrd="0" presId="urn:microsoft.com/office/officeart/2005/8/layout/default"/>
    <dgm:cxn modelId="{52804C1F-327E-48A6-90B7-E1C56CA34AB8}" type="presParOf" srcId="{234105BF-6716-4F00-A33C-5A8AF2BA3879}" destId="{8C399B7C-9F78-4D29-9AB8-5BF5CD4858E3}" srcOrd="5" destOrd="0" presId="urn:microsoft.com/office/officeart/2005/8/layout/default"/>
    <dgm:cxn modelId="{752CE390-F063-4B5D-BAD2-DA7389D9BFE8}" type="presParOf" srcId="{234105BF-6716-4F00-A33C-5A8AF2BA3879}" destId="{0F5807BF-5BD4-46AC-A0A3-1434FF64ACF9}" srcOrd="6" destOrd="0" presId="urn:microsoft.com/office/officeart/2005/8/layout/default"/>
    <dgm:cxn modelId="{CC500EC6-827B-446E-84F5-5299E332CBE1}" type="presParOf" srcId="{234105BF-6716-4F00-A33C-5A8AF2BA3879}" destId="{BB9D0609-ED0E-49D5-843F-9B9ED8228434}" srcOrd="7" destOrd="0" presId="urn:microsoft.com/office/officeart/2005/8/layout/default"/>
    <dgm:cxn modelId="{89CCA6D1-7D0F-4A8E-83EE-17863533383A}" type="presParOf" srcId="{234105BF-6716-4F00-A33C-5A8AF2BA3879}" destId="{F70DBD9C-97CB-4A15-9BB0-EBEEEF4053C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B44A02-2571-4D03-882C-C5B0646C7D34}">
      <dsp:nvSpPr>
        <dsp:cNvPr id="0" name=""/>
        <dsp:cNvSpPr/>
      </dsp:nvSpPr>
      <dsp:spPr>
        <a:xfrm>
          <a:off x="0" y="128587"/>
          <a:ext cx="2381250" cy="1428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spc="10" dirty="0" smtClean="0">
              <a:solidFill>
                <a:srgbClr val="232323"/>
              </a:solidFill>
              <a:latin typeface="Calibri"/>
              <a:cs typeface="Calibri"/>
            </a:rPr>
            <a:t>Experimental</a:t>
          </a:r>
          <a:r>
            <a:rPr lang="en-IN" sz="1400" b="1" kern="1200" spc="8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400" b="1" kern="1200" spc="10" dirty="0" smtClean="0">
              <a:solidFill>
                <a:srgbClr val="232323"/>
              </a:solidFill>
              <a:latin typeface="Calibri"/>
              <a:cs typeface="Calibri"/>
            </a:rPr>
            <a:t>methodology</a:t>
          </a:r>
          <a:endParaRPr lang="en-IN" sz="1400" b="1" kern="1200" dirty="0" smtClean="0">
            <a:latin typeface="Calibri"/>
            <a:cs typeface="Calibri"/>
          </a:endParaRP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b="0" kern="1200" spc="-60" dirty="0" smtClean="0">
              <a:solidFill>
                <a:srgbClr val="232323"/>
              </a:solidFill>
              <a:latin typeface="Calibri"/>
              <a:cs typeface="Calibri"/>
            </a:rPr>
            <a:t>A</a:t>
          </a:r>
          <a:r>
            <a:rPr lang="en-IN" sz="1200" b="0" kern="120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b="0" kern="1200" spc="-30" dirty="0" smtClean="0">
              <a:solidFill>
                <a:srgbClr val="212121"/>
              </a:solidFill>
              <a:latin typeface="Calibri"/>
              <a:cs typeface="Calibri"/>
            </a:rPr>
            <a:t>structured</a:t>
          </a:r>
          <a:r>
            <a:rPr lang="en-IN" sz="1200" b="0" kern="1200" spc="20" dirty="0" smtClean="0">
              <a:solidFill>
                <a:srgbClr val="212121"/>
              </a:solidFill>
              <a:latin typeface="Calibri"/>
              <a:cs typeface="Calibri"/>
            </a:rPr>
            <a:t> </a:t>
          </a:r>
          <a:r>
            <a:rPr lang="en-IN" sz="1200" b="0" kern="1200" spc="-30" dirty="0" smtClean="0">
              <a:solidFill>
                <a:srgbClr val="232323"/>
              </a:solidFill>
              <a:latin typeface="Calibri"/>
              <a:cs typeface="Calibri"/>
            </a:rPr>
            <a:t>experimental</a:t>
          </a:r>
          <a:r>
            <a:rPr lang="en-IN" sz="1200" b="0" kern="1200" spc="2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b="0" kern="1200" spc="-40" dirty="0" smtClean="0">
              <a:solidFill>
                <a:srgbClr val="232323"/>
              </a:solidFill>
              <a:latin typeface="Calibri"/>
              <a:cs typeface="Calibri"/>
            </a:rPr>
            <a:t>methodology</a:t>
          </a:r>
          <a:r>
            <a:rPr lang="en-IN" sz="1200" b="0" kern="1200" spc="8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b="0" kern="1200" spc="-25" dirty="0" smtClean="0">
              <a:solidFill>
                <a:srgbClr val="242424"/>
              </a:solidFill>
              <a:latin typeface="Calibri"/>
              <a:cs typeface="Calibri"/>
            </a:rPr>
            <a:t>is</a:t>
          </a:r>
          <a:r>
            <a:rPr lang="en-IN" sz="1200" b="0" kern="1200" spc="500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b="0" kern="1200" spc="-20" dirty="0" smtClean="0">
              <a:solidFill>
                <a:srgbClr val="232323"/>
              </a:solidFill>
              <a:latin typeface="Calibri"/>
              <a:cs typeface="Calibri"/>
            </a:rPr>
            <a:t>essential</a:t>
          </a:r>
          <a:r>
            <a:rPr lang="en-IN" sz="1200" b="0" kern="1200" spc="1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b="0" kern="1200" spc="-50" dirty="0" smtClean="0">
              <a:solidFill>
                <a:srgbClr val="242424"/>
              </a:solidFill>
              <a:latin typeface="Calibri"/>
              <a:cs typeface="Calibri"/>
            </a:rPr>
            <a:t>for</a:t>
          </a:r>
          <a:r>
            <a:rPr lang="en-IN" sz="1200" b="0" kern="1200" spc="-20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b="0" kern="1200" spc="-30" dirty="0" smtClean="0">
              <a:solidFill>
                <a:srgbClr val="232323"/>
              </a:solidFill>
              <a:latin typeface="Calibri"/>
              <a:cs typeface="Calibri"/>
            </a:rPr>
            <a:t>evaluating</a:t>
          </a:r>
          <a:r>
            <a:rPr lang="en-IN" sz="1200" b="0" kern="1200" spc="3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b="0" kern="1200" spc="-35" dirty="0" smtClean="0">
              <a:solidFill>
                <a:srgbClr val="232323"/>
              </a:solidFill>
              <a:latin typeface="Calibri"/>
              <a:cs typeface="Calibri"/>
            </a:rPr>
            <a:t>the</a:t>
          </a:r>
          <a:r>
            <a:rPr lang="en-IN" sz="1200" b="0" kern="1200" spc="-4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b="0" kern="1200" spc="-30" dirty="0" smtClean="0">
              <a:solidFill>
                <a:srgbClr val="232323"/>
              </a:solidFill>
              <a:latin typeface="Calibri"/>
              <a:cs typeface="Calibri"/>
            </a:rPr>
            <a:t>proposed</a:t>
          </a:r>
          <a:r>
            <a:rPr lang="en-IN" sz="1200" b="0" kern="1200" spc="4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b="0" kern="1200" spc="-10" dirty="0" smtClean="0">
              <a:solidFill>
                <a:srgbClr val="242424"/>
              </a:solidFill>
              <a:latin typeface="Calibri"/>
              <a:cs typeface="Calibri"/>
            </a:rPr>
            <a:t>system</a:t>
          </a:r>
          <a:r>
            <a:rPr lang="en-IN" sz="1200" b="0" kern="1200" spc="500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b="0" kern="1200" spc="-10" dirty="0" smtClean="0">
              <a:solidFill>
                <a:srgbClr val="242424"/>
              </a:solidFill>
              <a:latin typeface="Calibri"/>
              <a:cs typeface="Calibri"/>
            </a:rPr>
            <a:t>effectively.</a:t>
          </a:r>
          <a:endParaRPr lang="en-US" sz="1200" b="0" kern="1200" dirty="0"/>
        </a:p>
      </dsp:txBody>
      <dsp:txXfrm>
        <a:off x="0" y="128587"/>
        <a:ext cx="2381250" cy="1428750"/>
      </dsp:txXfrm>
    </dsp:sp>
    <dsp:sp modelId="{2C25D591-B8C6-4DB4-A13F-69F32AF49264}">
      <dsp:nvSpPr>
        <dsp:cNvPr id="0" name=""/>
        <dsp:cNvSpPr/>
      </dsp:nvSpPr>
      <dsp:spPr>
        <a:xfrm>
          <a:off x="2619375" y="128587"/>
          <a:ext cx="2381250" cy="1428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solidFill>
                <a:srgbClr val="232323"/>
              </a:solidFill>
              <a:latin typeface="Calibri"/>
              <a:cs typeface="Calibri"/>
            </a:rPr>
            <a:t>Controlled</a:t>
          </a:r>
          <a:r>
            <a:rPr lang="en-IN" sz="1400" b="1" kern="1200" spc="12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400" b="1" kern="1200" dirty="0" smtClean="0">
              <a:solidFill>
                <a:srgbClr val="242424"/>
              </a:solidFill>
              <a:latin typeface="Calibri"/>
              <a:cs typeface="Calibri"/>
            </a:rPr>
            <a:t>environment</a:t>
          </a:r>
          <a:r>
            <a:rPr lang="en-IN" sz="1400" b="1" kern="1200" spc="16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400" b="1" kern="1200" spc="-10" dirty="0" smtClean="0">
              <a:solidFill>
                <a:srgbClr val="232323"/>
              </a:solidFill>
              <a:latin typeface="Calibri"/>
              <a:cs typeface="Calibri"/>
            </a:rPr>
            <a:t>setup</a:t>
          </a:r>
          <a:endParaRPr lang="en-IN" sz="1400" b="1" kern="1200" dirty="0" smtClean="0">
            <a:latin typeface="Calibri"/>
            <a:cs typeface="Calibri"/>
          </a:endParaRP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>
              <a:solidFill>
                <a:srgbClr val="232323"/>
              </a:solidFill>
              <a:latin typeface="Calibri"/>
              <a:cs typeface="Calibri"/>
            </a:rPr>
            <a:t>Establishing</a:t>
          </a:r>
          <a:r>
            <a:rPr lang="en-IN" sz="1200" kern="1200" spc="3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dirty="0" smtClean="0">
              <a:solidFill>
                <a:srgbClr val="282828"/>
              </a:solidFill>
              <a:latin typeface="Calibri"/>
              <a:cs typeface="Calibri"/>
            </a:rPr>
            <a:t>a</a:t>
          </a:r>
          <a:r>
            <a:rPr lang="en-IN" sz="1200" kern="1200" spc="-20" dirty="0" smtClean="0">
              <a:solidFill>
                <a:srgbClr val="282828"/>
              </a:solidFill>
              <a:latin typeface="Calibri"/>
              <a:cs typeface="Calibri"/>
            </a:rPr>
            <a:t> </a:t>
          </a:r>
          <a:r>
            <a:rPr lang="en-IN" sz="1200" kern="1200" spc="-10" dirty="0" smtClean="0">
              <a:solidFill>
                <a:srgbClr val="232323"/>
              </a:solidFill>
              <a:latin typeface="Calibri"/>
              <a:cs typeface="Calibri"/>
            </a:rPr>
            <a:t>controlled</a:t>
          </a:r>
          <a:r>
            <a:rPr lang="en-IN" sz="1200" kern="1200" spc="2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10" dirty="0" smtClean="0">
              <a:solidFill>
                <a:srgbClr val="232323"/>
              </a:solidFill>
              <a:latin typeface="Calibri"/>
              <a:cs typeface="Calibri"/>
            </a:rPr>
            <a:t>environment</a:t>
          </a:r>
          <a:r>
            <a:rPr lang="en-IN" sz="1200" kern="1200" spc="5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dirty="0" smtClean="0">
              <a:solidFill>
                <a:srgbClr val="262626"/>
              </a:solidFill>
              <a:latin typeface="Calibri"/>
              <a:cs typeface="Calibri"/>
            </a:rPr>
            <a:t>is</a:t>
          </a:r>
          <a:r>
            <a:rPr lang="en-IN" sz="1200" kern="1200" spc="-50" dirty="0" smtClean="0">
              <a:solidFill>
                <a:srgbClr val="262626"/>
              </a:solidFill>
              <a:latin typeface="Calibri"/>
              <a:cs typeface="Calibri"/>
            </a:rPr>
            <a:t> </a:t>
          </a:r>
          <a:r>
            <a:rPr lang="en-IN" sz="1200" kern="1200" dirty="0" smtClean="0">
              <a:solidFill>
                <a:srgbClr val="242424"/>
              </a:solidFill>
              <a:latin typeface="Calibri"/>
              <a:cs typeface="Calibri"/>
            </a:rPr>
            <a:t>crucial</a:t>
          </a:r>
          <a:r>
            <a:rPr lang="en-IN" sz="1200" kern="1200" spc="-3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kern="1200" spc="-25" dirty="0" smtClean="0">
              <a:solidFill>
                <a:srgbClr val="262626"/>
              </a:solidFill>
              <a:latin typeface="Calibri"/>
              <a:cs typeface="Calibri"/>
            </a:rPr>
            <a:t>for</a:t>
          </a:r>
          <a:r>
            <a:rPr lang="en-IN" sz="1200" kern="1200" spc="500" dirty="0" smtClean="0">
              <a:solidFill>
                <a:srgbClr val="262626"/>
              </a:solidFill>
              <a:latin typeface="Calibri"/>
              <a:cs typeface="Calibri"/>
            </a:rPr>
            <a:t> </a:t>
          </a:r>
          <a:r>
            <a:rPr lang="en-IN" sz="1200" kern="1200" spc="-10" dirty="0" smtClean="0">
              <a:solidFill>
                <a:srgbClr val="242424"/>
              </a:solidFill>
              <a:latin typeface="Calibri"/>
              <a:cs typeface="Calibri"/>
            </a:rPr>
            <a:t>minimizing</a:t>
          </a:r>
          <a:r>
            <a:rPr lang="en-IN" sz="1200" kern="1200" spc="1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kern="1200" spc="-10" dirty="0" smtClean="0">
              <a:solidFill>
                <a:srgbClr val="242424"/>
              </a:solidFill>
              <a:latin typeface="Calibri"/>
              <a:cs typeface="Calibri"/>
            </a:rPr>
            <a:t>external</a:t>
          </a:r>
          <a:r>
            <a:rPr lang="en-IN" sz="1200" kern="1200" spc="-2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kern="1200" dirty="0" smtClean="0">
              <a:solidFill>
                <a:srgbClr val="232323"/>
              </a:solidFill>
              <a:latin typeface="Calibri"/>
              <a:cs typeface="Calibri"/>
            </a:rPr>
            <a:t>variables</a:t>
          </a:r>
          <a:r>
            <a:rPr lang="en-IN" sz="1200" kern="1200" spc="3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20" dirty="0" smtClean="0">
              <a:solidFill>
                <a:srgbClr val="242424"/>
              </a:solidFill>
              <a:latin typeface="Calibri"/>
              <a:cs typeface="Calibri"/>
            </a:rPr>
            <a:t>that</a:t>
          </a:r>
          <a:r>
            <a:rPr lang="en-IN" sz="1200" kern="1200" spc="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kern="1200" spc="-10" dirty="0" smtClean="0">
              <a:solidFill>
                <a:srgbClr val="232323"/>
              </a:solidFill>
              <a:latin typeface="Calibri"/>
              <a:cs typeface="Calibri"/>
            </a:rPr>
            <a:t>might</a:t>
          </a:r>
          <a:r>
            <a:rPr lang="en-IN" sz="1200" kern="1200" spc="1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10" dirty="0" smtClean="0">
              <a:solidFill>
                <a:srgbClr val="232323"/>
              </a:solidFill>
              <a:latin typeface="Calibri"/>
              <a:cs typeface="Calibri"/>
            </a:rPr>
            <a:t>affect results.</a:t>
          </a:r>
          <a:endParaRPr lang="en-US" sz="1200" kern="1200" dirty="0"/>
        </a:p>
      </dsp:txBody>
      <dsp:txXfrm>
        <a:off x="2619375" y="128587"/>
        <a:ext cx="2381250" cy="1428750"/>
      </dsp:txXfrm>
    </dsp:sp>
    <dsp:sp modelId="{D137ABF6-11FD-40D3-BBAC-3B3C5925D6B3}">
      <dsp:nvSpPr>
        <dsp:cNvPr id="0" name=""/>
        <dsp:cNvSpPr/>
      </dsp:nvSpPr>
      <dsp:spPr>
        <a:xfrm>
          <a:off x="5238750" y="128587"/>
          <a:ext cx="2381250" cy="1428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solidFill>
                <a:srgbClr val="242424"/>
              </a:solidFill>
              <a:latin typeface="Calibri"/>
              <a:cs typeface="Calibri"/>
            </a:rPr>
            <a:t>Evaluation</a:t>
          </a:r>
          <a:r>
            <a:rPr lang="en-IN" sz="1400" b="1" kern="1200" spc="200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400" b="1" kern="1200" dirty="0" smtClean="0">
              <a:solidFill>
                <a:srgbClr val="242424"/>
              </a:solidFill>
              <a:latin typeface="Calibri"/>
              <a:cs typeface="Calibri"/>
            </a:rPr>
            <a:t>metrics</a:t>
          </a:r>
          <a:r>
            <a:rPr lang="en-IN" sz="1400" b="1" kern="1200" spc="14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400" b="1" kern="1200" spc="-10" dirty="0" smtClean="0">
              <a:solidFill>
                <a:srgbClr val="232323"/>
              </a:solidFill>
              <a:latin typeface="Calibri"/>
              <a:cs typeface="Calibri"/>
            </a:rPr>
            <a:t>definition</a:t>
          </a:r>
          <a:endParaRPr lang="en-IN" sz="1400" b="1" kern="1200" dirty="0" smtClean="0">
            <a:latin typeface="Calibri"/>
            <a:cs typeface="Calibri"/>
          </a:endParaRP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spc="-30" dirty="0" smtClean="0">
              <a:solidFill>
                <a:srgbClr val="232323"/>
              </a:solidFill>
              <a:latin typeface="Calibri"/>
              <a:cs typeface="Calibri"/>
            </a:rPr>
            <a:t>Defining</a:t>
          </a:r>
          <a:r>
            <a:rPr lang="en-IN" sz="1200" kern="1200" spc="1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35" dirty="0" smtClean="0">
              <a:solidFill>
                <a:srgbClr val="232323"/>
              </a:solidFill>
              <a:latin typeface="Calibri"/>
              <a:cs typeface="Calibri"/>
            </a:rPr>
            <a:t>evaluation</a:t>
          </a:r>
          <a:r>
            <a:rPr lang="en-IN" sz="1200" kern="1200" spc="-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25" dirty="0" smtClean="0">
              <a:solidFill>
                <a:srgbClr val="232323"/>
              </a:solidFill>
              <a:latin typeface="Calibri"/>
              <a:cs typeface="Calibri"/>
            </a:rPr>
            <a:t>metrics</a:t>
          </a:r>
          <a:r>
            <a:rPr lang="en-IN" sz="1200" kern="1200" spc="3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25" dirty="0" smtClean="0">
              <a:solidFill>
                <a:srgbClr val="262626"/>
              </a:solidFill>
              <a:latin typeface="Calibri"/>
              <a:cs typeface="Calibri"/>
            </a:rPr>
            <a:t>like</a:t>
          </a:r>
          <a:r>
            <a:rPr lang="en-IN" sz="1200" kern="1200" spc="-40" dirty="0" smtClean="0">
              <a:solidFill>
                <a:srgbClr val="262626"/>
              </a:solidFill>
              <a:latin typeface="Calibri"/>
              <a:cs typeface="Calibri"/>
            </a:rPr>
            <a:t> </a:t>
          </a:r>
          <a:r>
            <a:rPr lang="en-IN" sz="1200" kern="1200" spc="-10" dirty="0" smtClean="0">
              <a:solidFill>
                <a:srgbClr val="242424"/>
              </a:solidFill>
              <a:latin typeface="Calibri"/>
              <a:cs typeface="Calibri"/>
            </a:rPr>
            <a:t>accuracy,</a:t>
          </a:r>
          <a:r>
            <a:rPr lang="en-IN" sz="1200" kern="1200" spc="500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kern="1200" spc="-30" dirty="0" smtClean="0">
              <a:solidFill>
                <a:srgbClr val="232323"/>
              </a:solidFill>
              <a:latin typeface="Calibri"/>
              <a:cs typeface="Calibri"/>
            </a:rPr>
            <a:t>precision,</a:t>
          </a:r>
          <a:r>
            <a:rPr lang="en-IN" sz="1200" kern="1200" spc="2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20" dirty="0" smtClean="0">
              <a:solidFill>
                <a:srgbClr val="232323"/>
              </a:solidFill>
              <a:latin typeface="Calibri"/>
              <a:cs typeface="Calibri"/>
            </a:rPr>
            <a:t>recall,</a:t>
          </a:r>
          <a:r>
            <a:rPr lang="en-IN" sz="1200" kern="120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30" dirty="0" smtClean="0">
              <a:solidFill>
                <a:srgbClr val="232323"/>
              </a:solidFill>
              <a:latin typeface="Calibri"/>
              <a:cs typeface="Calibri"/>
            </a:rPr>
            <a:t>and</a:t>
          </a:r>
          <a:r>
            <a:rPr lang="en-IN" sz="1200" kern="1200" spc="-10" dirty="0" smtClean="0">
              <a:solidFill>
                <a:srgbClr val="232323"/>
              </a:solidFill>
              <a:latin typeface="Calibri"/>
              <a:cs typeface="Calibri"/>
            </a:rPr>
            <a:t> F1-</a:t>
          </a:r>
          <a:r>
            <a:rPr lang="en-IN" sz="1200" kern="1200" dirty="0" smtClean="0">
              <a:solidFill>
                <a:srgbClr val="232323"/>
              </a:solidFill>
              <a:latin typeface="Calibri"/>
              <a:cs typeface="Calibri"/>
            </a:rPr>
            <a:t>score</a:t>
          </a:r>
          <a:r>
            <a:rPr lang="en-IN" sz="1200" kern="1200" spc="-2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20" dirty="0" smtClean="0">
              <a:solidFill>
                <a:srgbClr val="232323"/>
              </a:solidFill>
              <a:latin typeface="Calibri"/>
              <a:cs typeface="Calibri"/>
            </a:rPr>
            <a:t>ensures</a:t>
          </a:r>
          <a:r>
            <a:rPr lang="en-IN" sz="1200" kern="1200" spc="1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10" dirty="0" smtClean="0">
              <a:solidFill>
                <a:srgbClr val="242424"/>
              </a:solidFill>
              <a:latin typeface="Calibri"/>
              <a:cs typeface="Calibri"/>
            </a:rPr>
            <a:t>robust</a:t>
          </a:r>
          <a:r>
            <a:rPr lang="en-IN" sz="1200" kern="1200" spc="500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kern="1200" spc="-35" dirty="0" smtClean="0">
              <a:solidFill>
                <a:srgbClr val="232323"/>
              </a:solidFill>
              <a:latin typeface="Calibri"/>
              <a:cs typeface="Calibri"/>
            </a:rPr>
            <a:t>model</a:t>
          </a:r>
          <a:r>
            <a:rPr lang="en-IN" sz="1200" kern="1200" spc="-2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10" dirty="0" smtClean="0">
              <a:solidFill>
                <a:srgbClr val="242424"/>
              </a:solidFill>
              <a:latin typeface="Calibri"/>
              <a:cs typeface="Calibri"/>
            </a:rPr>
            <a:t>assessment.</a:t>
          </a:r>
          <a:endParaRPr lang="en-US" sz="1200" kern="1200" dirty="0"/>
        </a:p>
      </dsp:txBody>
      <dsp:txXfrm>
        <a:off x="5238750" y="128587"/>
        <a:ext cx="2381250" cy="1428750"/>
      </dsp:txXfrm>
    </dsp:sp>
    <dsp:sp modelId="{0F5807BF-5BD4-46AC-A0A3-1434FF64ACF9}">
      <dsp:nvSpPr>
        <dsp:cNvPr id="0" name=""/>
        <dsp:cNvSpPr/>
      </dsp:nvSpPr>
      <dsp:spPr>
        <a:xfrm>
          <a:off x="1309687" y="1795462"/>
          <a:ext cx="2381250" cy="142875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spc="-30" dirty="0" smtClean="0">
              <a:solidFill>
                <a:srgbClr val="232A33"/>
              </a:solidFill>
              <a:latin typeface="+mn-lt"/>
              <a:cs typeface="Arial"/>
            </a:rPr>
            <a:t>Selection</a:t>
          </a:r>
          <a:r>
            <a:rPr lang="en-IN" sz="1400" b="1" kern="1200" spc="-15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400" b="1" kern="1200" spc="-10" dirty="0" smtClean="0">
              <a:solidFill>
                <a:srgbClr val="232A33"/>
              </a:solidFill>
              <a:latin typeface="+mn-lt"/>
              <a:cs typeface="Arial"/>
            </a:rPr>
            <a:t>of</a:t>
          </a:r>
          <a:r>
            <a:rPr lang="en-IN" sz="1400" b="1" kern="1200" spc="-25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400" b="1" kern="1200" spc="-35" dirty="0" smtClean="0">
              <a:solidFill>
                <a:srgbClr val="232A33"/>
              </a:solidFill>
              <a:latin typeface="+mn-lt"/>
              <a:cs typeface="Arial"/>
            </a:rPr>
            <a:t>machine</a:t>
          </a:r>
          <a:r>
            <a:rPr lang="en-IN" sz="1400" b="1" kern="1200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400" b="1" kern="1200" spc="-25" dirty="0" smtClean="0">
              <a:solidFill>
                <a:srgbClr val="232A33"/>
              </a:solidFill>
              <a:latin typeface="+mn-lt"/>
              <a:cs typeface="Arial"/>
            </a:rPr>
            <a:t>learning</a:t>
          </a:r>
          <a:r>
            <a:rPr lang="en-IN" sz="1400" b="1" kern="1200" spc="-45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400" b="1" kern="1200" spc="-10" dirty="0" smtClean="0">
              <a:solidFill>
                <a:srgbClr val="232A33"/>
              </a:solidFill>
              <a:latin typeface="+mn-lt"/>
              <a:cs typeface="Arial"/>
            </a:rPr>
            <a:t>models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spc="10" dirty="0" smtClean="0">
              <a:solidFill>
                <a:srgbClr val="343A41"/>
              </a:solidFill>
              <a:latin typeface="+mn-lt"/>
              <a:cs typeface="Arial"/>
            </a:rPr>
            <a:t>Choosing</a:t>
          </a:r>
          <a:r>
            <a:rPr lang="en-IN" sz="1200" kern="1200" spc="-5" dirty="0" smtClean="0">
              <a:solidFill>
                <a:srgbClr val="343A41"/>
              </a:solidFill>
              <a:latin typeface="+mn-lt"/>
              <a:cs typeface="Arial"/>
            </a:rPr>
            <a:t> </a:t>
          </a:r>
          <a:r>
            <a:rPr lang="en-IN" sz="1200" kern="1200" spc="10" dirty="0" smtClean="0">
              <a:solidFill>
                <a:srgbClr val="343A41"/>
              </a:solidFill>
              <a:latin typeface="+mn-lt"/>
              <a:cs typeface="Arial"/>
            </a:rPr>
            <a:t>appropriate</a:t>
          </a:r>
          <a:r>
            <a:rPr lang="en-IN" sz="1200" kern="1200" spc="114" dirty="0" smtClean="0">
              <a:solidFill>
                <a:srgbClr val="343A41"/>
              </a:solidFill>
              <a:latin typeface="+mn-lt"/>
              <a:cs typeface="Arial"/>
            </a:rPr>
            <a:t> </a:t>
          </a:r>
          <a:r>
            <a:rPr lang="en-IN" sz="1200" kern="1200" spc="10" dirty="0" smtClean="0">
              <a:solidFill>
                <a:srgbClr val="232A33"/>
              </a:solidFill>
              <a:latin typeface="+mn-lt"/>
              <a:cs typeface="Arial"/>
            </a:rPr>
            <a:t>machine</a:t>
          </a:r>
          <a:r>
            <a:rPr lang="en-IN" sz="1200" kern="1200" spc="85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200" kern="1200" spc="10" dirty="0" smtClean="0">
              <a:solidFill>
                <a:srgbClr val="232A33"/>
              </a:solidFill>
              <a:latin typeface="+mn-lt"/>
              <a:cs typeface="Arial"/>
            </a:rPr>
            <a:t>learning models</a:t>
          </a:r>
          <a:r>
            <a:rPr lang="en-IN" sz="1200" kern="1200" spc="85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200" kern="1200" spc="-25" dirty="0" smtClean="0">
              <a:solidFill>
                <a:srgbClr val="232A33"/>
              </a:solidFill>
              <a:latin typeface="+mn-lt"/>
              <a:cs typeface="Arial"/>
            </a:rPr>
            <a:t>is</a:t>
          </a:r>
          <a:r>
            <a:rPr lang="en-IN" sz="1200" kern="1200" spc="20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200" kern="1200" spc="20" dirty="0" smtClean="0">
              <a:solidFill>
                <a:srgbClr val="343A41"/>
              </a:solidFill>
              <a:latin typeface="+mn-lt"/>
              <a:cs typeface="Arial"/>
            </a:rPr>
            <a:t>vital</a:t>
          </a:r>
          <a:r>
            <a:rPr lang="en-IN" sz="1200" kern="1200" spc="-50" dirty="0" smtClean="0">
              <a:solidFill>
                <a:srgbClr val="343A41"/>
              </a:solidFill>
              <a:latin typeface="+mn-lt"/>
              <a:cs typeface="Arial"/>
            </a:rPr>
            <a:t> </a:t>
          </a:r>
          <a:r>
            <a:rPr lang="en-IN" sz="1200" kern="1200" spc="20" dirty="0" smtClean="0">
              <a:solidFill>
                <a:srgbClr val="343A41"/>
              </a:solidFill>
              <a:latin typeface="+mn-lt"/>
              <a:cs typeface="Arial"/>
            </a:rPr>
            <a:t>for</a:t>
          </a:r>
          <a:r>
            <a:rPr lang="en-IN" sz="1200" kern="1200" spc="-5" dirty="0" smtClean="0">
              <a:solidFill>
                <a:srgbClr val="343A41"/>
              </a:solidFill>
              <a:latin typeface="+mn-lt"/>
              <a:cs typeface="Arial"/>
            </a:rPr>
            <a:t> </a:t>
          </a:r>
          <a:r>
            <a:rPr lang="en-IN" sz="1200" kern="1200" spc="20" dirty="0" smtClean="0">
              <a:solidFill>
                <a:srgbClr val="343A41"/>
              </a:solidFill>
              <a:latin typeface="+mn-lt"/>
              <a:cs typeface="Arial"/>
            </a:rPr>
            <a:t>accurately</a:t>
          </a:r>
          <a:r>
            <a:rPr lang="en-IN" sz="1200" kern="1200" spc="55" dirty="0" smtClean="0">
              <a:solidFill>
                <a:srgbClr val="343A41"/>
              </a:solidFill>
              <a:latin typeface="+mn-lt"/>
              <a:cs typeface="Arial"/>
            </a:rPr>
            <a:t> </a:t>
          </a:r>
          <a:r>
            <a:rPr lang="en-IN" sz="1200" kern="1200" spc="20" dirty="0" smtClean="0">
              <a:solidFill>
                <a:srgbClr val="343A41"/>
              </a:solidFill>
              <a:latin typeface="+mn-lt"/>
              <a:cs typeface="Arial"/>
            </a:rPr>
            <a:t>predicting</a:t>
          </a:r>
          <a:r>
            <a:rPr lang="en-IN" sz="1200" kern="1200" spc="-25" dirty="0" smtClean="0">
              <a:solidFill>
                <a:srgbClr val="343A41"/>
              </a:solidFill>
              <a:latin typeface="+mn-lt"/>
              <a:cs typeface="Arial"/>
            </a:rPr>
            <a:t> </a:t>
          </a:r>
          <a:r>
            <a:rPr lang="en-IN" sz="1200" kern="1200" spc="20" dirty="0" smtClean="0">
              <a:solidFill>
                <a:srgbClr val="232A33"/>
              </a:solidFill>
              <a:latin typeface="+mn-lt"/>
              <a:cs typeface="Arial"/>
            </a:rPr>
            <a:t>flight</a:t>
          </a:r>
          <a:r>
            <a:rPr lang="en-IN" sz="1200" kern="1200" spc="35" dirty="0" smtClean="0">
              <a:solidFill>
                <a:srgbClr val="232A33"/>
              </a:solidFill>
              <a:latin typeface="+mn-lt"/>
              <a:cs typeface="Arial"/>
            </a:rPr>
            <a:t> </a:t>
          </a:r>
          <a:r>
            <a:rPr lang="en-IN" sz="1200" kern="1200" spc="-10" dirty="0" smtClean="0">
              <a:solidFill>
                <a:srgbClr val="232A33"/>
              </a:solidFill>
              <a:latin typeface="+mn-lt"/>
              <a:cs typeface="Arial"/>
            </a:rPr>
            <a:t>delays</a:t>
          </a:r>
          <a:endParaRPr lang="en-IN" sz="1400" kern="1200" dirty="0">
            <a:latin typeface="+mn-lt"/>
            <a:cs typeface="Arial"/>
          </a:endParaRPr>
        </a:p>
      </dsp:txBody>
      <dsp:txXfrm>
        <a:off x="1309687" y="1795462"/>
        <a:ext cx="2381250" cy="1428750"/>
      </dsp:txXfrm>
    </dsp:sp>
    <dsp:sp modelId="{F70DBD9C-97CB-4A15-9BB0-EBEEEF4053CB}">
      <dsp:nvSpPr>
        <dsp:cNvPr id="0" name=""/>
        <dsp:cNvSpPr/>
      </dsp:nvSpPr>
      <dsp:spPr>
        <a:xfrm>
          <a:off x="3929063" y="1795462"/>
          <a:ext cx="2381250" cy="142875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kern="1200" dirty="0" smtClean="0">
              <a:solidFill>
                <a:srgbClr val="242424"/>
              </a:solidFill>
              <a:latin typeface="Calibri"/>
              <a:cs typeface="Calibri"/>
            </a:rPr>
            <a:t>Real-world</a:t>
          </a:r>
          <a:r>
            <a:rPr lang="en-IN" sz="1400" b="1" kern="1200" spc="27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400" b="1" kern="1200" spc="-10" dirty="0" smtClean="0">
              <a:solidFill>
                <a:srgbClr val="242424"/>
              </a:solidFill>
              <a:latin typeface="Calibri"/>
              <a:cs typeface="Calibri"/>
            </a:rPr>
            <a:t>applicability</a:t>
          </a:r>
          <a:endParaRPr lang="en-IN" sz="1400" b="1" kern="1200" dirty="0" smtClean="0">
            <a:latin typeface="Calibri"/>
            <a:cs typeface="Calibri"/>
          </a:endParaRP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spc="-40" dirty="0" smtClean="0">
              <a:solidFill>
                <a:srgbClr val="262626"/>
              </a:solidFill>
              <a:latin typeface="Calibri"/>
              <a:cs typeface="Calibri"/>
            </a:rPr>
            <a:t>The</a:t>
          </a:r>
          <a:r>
            <a:rPr lang="en-IN" sz="1200" kern="1200" spc="-10" dirty="0" smtClean="0">
              <a:solidFill>
                <a:srgbClr val="262626"/>
              </a:solidFill>
              <a:latin typeface="Calibri"/>
              <a:cs typeface="Calibri"/>
            </a:rPr>
            <a:t> </a:t>
          </a:r>
          <a:r>
            <a:rPr lang="en-IN" sz="1200" kern="1200" spc="-35" dirty="0" smtClean="0">
              <a:solidFill>
                <a:srgbClr val="242424"/>
              </a:solidFill>
              <a:latin typeface="Calibri"/>
              <a:cs typeface="Calibri"/>
            </a:rPr>
            <a:t>methodology</a:t>
          </a:r>
          <a:r>
            <a:rPr lang="en-IN" sz="1200" kern="1200" spc="15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kern="1200" spc="-20" dirty="0" smtClean="0">
              <a:solidFill>
                <a:srgbClr val="232323"/>
              </a:solidFill>
              <a:latin typeface="Calibri"/>
              <a:cs typeface="Calibri"/>
            </a:rPr>
            <a:t>ensures</a:t>
          </a:r>
          <a:r>
            <a:rPr lang="en-IN" sz="1200" kern="1200" spc="1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30" dirty="0" smtClean="0">
              <a:solidFill>
                <a:srgbClr val="232323"/>
              </a:solidFill>
              <a:latin typeface="Calibri"/>
              <a:cs typeface="Calibri"/>
            </a:rPr>
            <a:t>that</a:t>
          </a:r>
          <a:r>
            <a:rPr lang="en-IN" sz="1200" kern="1200" spc="-1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35" dirty="0" smtClean="0">
              <a:solidFill>
                <a:srgbClr val="262626"/>
              </a:solidFill>
              <a:latin typeface="Calibri"/>
              <a:cs typeface="Calibri"/>
            </a:rPr>
            <a:t>the</a:t>
          </a:r>
          <a:r>
            <a:rPr lang="en-IN" sz="1200" kern="1200" spc="-15" dirty="0" smtClean="0">
              <a:solidFill>
                <a:srgbClr val="262626"/>
              </a:solidFill>
              <a:latin typeface="Calibri"/>
              <a:cs typeface="Calibri"/>
            </a:rPr>
            <a:t> </a:t>
          </a:r>
          <a:r>
            <a:rPr lang="en-IN" sz="1200" kern="1200" spc="-10" dirty="0" smtClean="0">
              <a:solidFill>
                <a:srgbClr val="232323"/>
              </a:solidFill>
              <a:latin typeface="Calibri"/>
              <a:cs typeface="Calibri"/>
            </a:rPr>
            <a:t>predictions</a:t>
          </a:r>
          <a:r>
            <a:rPr lang="en-IN" sz="1200" kern="1200" spc="50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40" dirty="0" smtClean="0">
              <a:solidFill>
                <a:srgbClr val="262626"/>
              </a:solidFill>
              <a:latin typeface="Calibri"/>
              <a:cs typeface="Calibri"/>
            </a:rPr>
            <a:t>made</a:t>
          </a:r>
          <a:r>
            <a:rPr lang="en-IN" sz="1200" kern="1200" spc="-5" dirty="0" smtClean="0">
              <a:solidFill>
                <a:srgbClr val="262626"/>
              </a:solidFill>
              <a:latin typeface="Calibri"/>
              <a:cs typeface="Calibri"/>
            </a:rPr>
            <a:t> </a:t>
          </a:r>
          <a:r>
            <a:rPr lang="en-IN" sz="1200" kern="1200" spc="-20" dirty="0" smtClean="0">
              <a:solidFill>
                <a:srgbClr val="232323"/>
              </a:solidFill>
              <a:latin typeface="Calibri"/>
              <a:cs typeface="Calibri"/>
            </a:rPr>
            <a:t>are</a:t>
          </a:r>
          <a:r>
            <a:rPr lang="en-IN" sz="1200" kern="1200" spc="1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30" dirty="0" smtClean="0">
              <a:solidFill>
                <a:srgbClr val="232323"/>
              </a:solidFill>
              <a:latin typeface="Calibri"/>
              <a:cs typeface="Calibri"/>
            </a:rPr>
            <a:t>reliable</a:t>
          </a:r>
          <a:r>
            <a:rPr lang="en-IN" sz="1200" kern="1200" spc="2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35" dirty="0" smtClean="0">
              <a:solidFill>
                <a:srgbClr val="262626"/>
              </a:solidFill>
              <a:latin typeface="Calibri"/>
              <a:cs typeface="Calibri"/>
            </a:rPr>
            <a:t>and</a:t>
          </a:r>
          <a:r>
            <a:rPr lang="en-IN" sz="1200" kern="1200" spc="-5" dirty="0" smtClean="0">
              <a:solidFill>
                <a:srgbClr val="262626"/>
              </a:solidFill>
              <a:latin typeface="Calibri"/>
              <a:cs typeface="Calibri"/>
            </a:rPr>
            <a:t> </a:t>
          </a:r>
          <a:r>
            <a:rPr lang="en-IN" sz="1200" kern="1200" spc="-20" dirty="0" smtClean="0">
              <a:solidFill>
                <a:srgbClr val="232323"/>
              </a:solidFill>
              <a:latin typeface="Calibri"/>
              <a:cs typeface="Calibri"/>
            </a:rPr>
            <a:t>applicable</a:t>
          </a:r>
          <a:r>
            <a:rPr lang="en-IN" sz="1200" kern="1200" spc="15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30" dirty="0" smtClean="0">
              <a:solidFill>
                <a:srgbClr val="242424"/>
              </a:solidFill>
              <a:latin typeface="Calibri"/>
              <a:cs typeface="Calibri"/>
            </a:rPr>
            <a:t>in</a:t>
          </a:r>
          <a:r>
            <a:rPr lang="en-IN" sz="1200" kern="1200" dirty="0" smtClean="0">
              <a:solidFill>
                <a:srgbClr val="242424"/>
              </a:solidFill>
              <a:latin typeface="Calibri"/>
              <a:cs typeface="Calibri"/>
            </a:rPr>
            <a:t> </a:t>
          </a:r>
          <a:r>
            <a:rPr lang="en-IN" sz="1200" kern="1200" spc="-35" dirty="0" smtClean="0">
              <a:solidFill>
                <a:srgbClr val="232323"/>
              </a:solidFill>
              <a:latin typeface="Calibri"/>
              <a:cs typeface="Calibri"/>
            </a:rPr>
            <a:t>real-</a:t>
          </a:r>
          <a:r>
            <a:rPr lang="en-IN" sz="1200" kern="1200" spc="-10" dirty="0" smtClean="0">
              <a:solidFill>
                <a:srgbClr val="232323"/>
              </a:solidFill>
              <a:latin typeface="Calibri"/>
              <a:cs typeface="Calibri"/>
            </a:rPr>
            <a:t>world</a:t>
          </a:r>
          <a:r>
            <a:rPr lang="en-IN" sz="1200" kern="1200" spc="500" dirty="0" smtClean="0">
              <a:solidFill>
                <a:srgbClr val="232323"/>
              </a:solidFill>
              <a:latin typeface="Calibri"/>
              <a:cs typeface="Calibri"/>
            </a:rPr>
            <a:t> </a:t>
          </a:r>
          <a:r>
            <a:rPr lang="en-IN" sz="1200" kern="1200" spc="-10" dirty="0" smtClean="0">
              <a:solidFill>
                <a:srgbClr val="242424"/>
              </a:solidFill>
              <a:latin typeface="Calibri"/>
              <a:cs typeface="Calibri"/>
            </a:rPr>
            <a:t>scenarios</a:t>
          </a:r>
          <a:endParaRPr lang="en-US" sz="1200" kern="1200" dirty="0"/>
        </a:p>
      </dsp:txBody>
      <dsp:txXfrm>
        <a:off x="3929063" y="1795462"/>
        <a:ext cx="2381250" cy="1428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9600" y="1417320"/>
            <a:ext cx="6908800" cy="960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3232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19200" y="2560320"/>
            <a:ext cx="5689600" cy="114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3232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3232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0640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185920" y="1051560"/>
            <a:ext cx="353568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58239"/>
            <a:ext cx="8124952" cy="34137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23232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4618" y="238840"/>
            <a:ext cx="7338763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23232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6400" y="1051560"/>
            <a:ext cx="7315200" cy="3017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63520" y="4251960"/>
            <a:ext cx="260096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0640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852160" y="4251960"/>
            <a:ext cx="18694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g"/><Relationship Id="rId11" Type="http://schemas.openxmlformats.org/officeDocument/2006/relationships/image" Target="../media/image14.jpg"/><Relationship Id="rId5" Type="http://schemas.openxmlformats.org/officeDocument/2006/relationships/image" Target="../media/image8.jpg"/><Relationship Id="rId10" Type="http://schemas.openxmlformats.org/officeDocument/2006/relationships/image" Target="../media/image13.jp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7213" y="726362"/>
            <a:ext cx="2810787" cy="322278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8800" y="1371600"/>
            <a:ext cx="3892550" cy="7332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5"/>
              </a:spcBef>
            </a:pPr>
            <a:r>
              <a:rPr sz="3100" spc="-165" dirty="0">
                <a:solidFill>
                  <a:srgbClr val="1F2631"/>
                </a:solidFill>
              </a:rPr>
              <a:t>Flight</a:t>
            </a:r>
            <a:r>
              <a:rPr sz="3100" spc="-50" dirty="0">
                <a:solidFill>
                  <a:srgbClr val="1F2631"/>
                </a:solidFill>
              </a:rPr>
              <a:t> </a:t>
            </a:r>
            <a:r>
              <a:rPr sz="3100" spc="-165" dirty="0">
                <a:solidFill>
                  <a:srgbClr val="1F2631"/>
                </a:solidFill>
              </a:rPr>
              <a:t>Delay</a:t>
            </a:r>
            <a:r>
              <a:rPr sz="3100" spc="-50" dirty="0">
                <a:solidFill>
                  <a:srgbClr val="1F2631"/>
                </a:solidFill>
              </a:rPr>
              <a:t> </a:t>
            </a:r>
            <a:r>
              <a:rPr sz="3100" spc="-130" dirty="0">
                <a:solidFill>
                  <a:srgbClr val="1F2631"/>
                </a:solidFill>
              </a:rPr>
              <a:t>Prediction</a:t>
            </a:r>
            <a:endParaRPr sz="3100" dirty="0"/>
          </a:p>
          <a:p>
            <a:pPr marL="12700" marR="5080" indent="1270">
              <a:lnSpc>
                <a:spcPct val="129200"/>
              </a:lnSpc>
              <a:spcBef>
                <a:spcPts val="500"/>
              </a:spcBef>
            </a:pPr>
            <a:r>
              <a:rPr sz="900" b="0" spc="-20" dirty="0">
                <a:solidFill>
                  <a:srgbClr val="59626D"/>
                </a:solidFill>
                <a:latin typeface="Arial"/>
                <a:cs typeface="Arial"/>
              </a:rPr>
              <a:t>An</a:t>
            </a:r>
            <a:r>
              <a:rPr sz="900" b="0" spc="45" dirty="0">
                <a:solidFill>
                  <a:srgbClr val="59626D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59626D"/>
                </a:solidFill>
                <a:latin typeface="Arial"/>
                <a:cs typeface="Arial"/>
              </a:rPr>
              <a:t>exploration</a:t>
            </a:r>
            <a:r>
              <a:rPr sz="900" b="0" spc="120" dirty="0">
                <a:solidFill>
                  <a:srgbClr val="59626D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59626D"/>
                </a:solidFill>
                <a:latin typeface="Arial"/>
                <a:cs typeface="Arial"/>
              </a:rPr>
              <a:t>of</a:t>
            </a:r>
            <a:r>
              <a:rPr sz="900" b="0" spc="95" dirty="0">
                <a:solidFill>
                  <a:srgbClr val="59626D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59626D"/>
                </a:solidFill>
                <a:latin typeface="Arial"/>
                <a:cs typeface="Arial"/>
              </a:rPr>
              <a:t>machine</a:t>
            </a:r>
            <a:r>
              <a:rPr sz="900" b="0" spc="80" dirty="0">
                <a:solidFill>
                  <a:srgbClr val="59626D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59626D"/>
                </a:solidFill>
                <a:latin typeface="Arial"/>
                <a:cs typeface="Arial"/>
              </a:rPr>
              <a:t>learning</a:t>
            </a:r>
            <a:r>
              <a:rPr sz="900" b="0" spc="-5" dirty="0">
                <a:solidFill>
                  <a:srgbClr val="59626D"/>
                </a:solidFill>
                <a:latin typeface="Arial"/>
                <a:cs typeface="Arial"/>
              </a:rPr>
              <a:t> </a:t>
            </a:r>
            <a:r>
              <a:rPr sz="900" b="0" dirty="0" smtClean="0">
                <a:solidFill>
                  <a:srgbClr val="59626D"/>
                </a:solidFill>
                <a:latin typeface="Arial"/>
                <a:cs typeface="Arial"/>
              </a:rPr>
              <a:t>for</a:t>
            </a:r>
            <a:r>
              <a:rPr sz="900" b="0" spc="75" dirty="0" smtClean="0">
                <a:solidFill>
                  <a:srgbClr val="59626D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59626D"/>
                </a:solidFill>
                <a:latin typeface="Arial"/>
                <a:cs typeface="Arial"/>
              </a:rPr>
              <a:t>predicting</a:t>
            </a:r>
            <a:r>
              <a:rPr sz="900" b="0" spc="5" dirty="0">
                <a:solidFill>
                  <a:srgbClr val="59626D"/>
                </a:solidFill>
                <a:latin typeface="Arial"/>
                <a:cs typeface="Arial"/>
              </a:rPr>
              <a:t> </a:t>
            </a:r>
            <a:r>
              <a:rPr sz="900" b="0" dirty="0">
                <a:solidFill>
                  <a:srgbClr val="59626D"/>
                </a:solidFill>
                <a:latin typeface="Arial"/>
                <a:cs typeface="Arial"/>
              </a:rPr>
              <a:t>flight</a:t>
            </a:r>
            <a:r>
              <a:rPr sz="900" b="0" spc="100" dirty="0">
                <a:solidFill>
                  <a:srgbClr val="59626D"/>
                </a:solidFill>
                <a:latin typeface="Arial"/>
                <a:cs typeface="Arial"/>
              </a:rPr>
              <a:t> </a:t>
            </a:r>
            <a:r>
              <a:rPr sz="900" b="0" spc="-10" dirty="0">
                <a:solidFill>
                  <a:srgbClr val="59626D"/>
                </a:solidFill>
                <a:latin typeface="Arial"/>
                <a:cs typeface="Arial"/>
              </a:rPr>
              <a:t>delays</a:t>
            </a:r>
            <a:r>
              <a:rPr sz="900" b="0" spc="-10" dirty="0" smtClean="0">
                <a:solidFill>
                  <a:srgbClr val="59626D"/>
                </a:solidFill>
                <a:latin typeface="Arial"/>
                <a:cs typeface="Arial"/>
              </a:rPr>
              <a:t>,.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0200" y="4038600"/>
            <a:ext cx="717184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20" dirty="0" smtClean="0">
                <a:solidFill>
                  <a:srgbClr val="B1B5BA"/>
                </a:solidFill>
                <a:latin typeface="Arial"/>
                <a:cs typeface="Arial"/>
              </a:rPr>
              <a:t>Team </a:t>
            </a:r>
            <a:r>
              <a:rPr lang="en-IN" sz="1200" b="1" spc="-20" dirty="0">
                <a:solidFill>
                  <a:srgbClr val="B1B5BA"/>
                </a:solidFill>
                <a:latin typeface="Arial"/>
                <a:cs typeface="Arial"/>
              </a:rPr>
              <a:t>M</a:t>
            </a:r>
            <a:r>
              <a:rPr lang="en-IN" sz="1200" b="1" spc="-20" dirty="0" smtClean="0">
                <a:solidFill>
                  <a:srgbClr val="B1B5BA"/>
                </a:solidFill>
                <a:latin typeface="Arial"/>
                <a:cs typeface="Arial"/>
              </a:rPr>
              <a:t>embers: Dr Bhuvnesh Kumar, Kapil Khurana, Rishu Gera, Tarun Shekhawat, Ankush Chauhan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200" b="1" spc="-20" dirty="0" smtClean="0">
                <a:solidFill>
                  <a:srgbClr val="B1B5BA"/>
                </a:solidFill>
                <a:latin typeface="Arial"/>
                <a:cs typeface="Arial"/>
              </a:rPr>
              <a:t>Cohort 3, </a:t>
            </a:r>
            <a:r>
              <a:rPr lang="en-IN" sz="1200" b="1" spc="-20" dirty="0" err="1" smtClean="0">
                <a:solidFill>
                  <a:srgbClr val="B1B5BA"/>
                </a:solidFill>
                <a:latin typeface="Arial"/>
                <a:cs typeface="Arial"/>
              </a:rPr>
              <a:t>M.Tech</a:t>
            </a:r>
            <a:r>
              <a:rPr lang="en-IN" sz="1200" b="1" spc="-20" dirty="0" smtClean="0">
                <a:solidFill>
                  <a:srgbClr val="B1B5BA"/>
                </a:solidFill>
                <a:latin typeface="Arial"/>
                <a:cs typeface="Arial"/>
              </a:rPr>
              <a:t> in AI&amp;ML(Executive)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0894"/>
            <a:ext cx="838685" cy="71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1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88522" y="238840"/>
            <a:ext cx="4589877" cy="63478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100" spc="-75" dirty="0">
                <a:solidFill>
                  <a:srgbClr val="242424"/>
                </a:solidFill>
                <a:latin typeface="Calibri"/>
                <a:cs typeface="Calibri"/>
              </a:rPr>
              <a:t>Introduction</a:t>
            </a:r>
            <a:r>
              <a:rPr sz="2100" spc="5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100" spc="-155" dirty="0">
                <a:solidFill>
                  <a:srgbClr val="262626"/>
                </a:solidFill>
                <a:latin typeface="Calibri"/>
                <a:cs typeface="Calibri"/>
              </a:rPr>
              <a:t>to</a:t>
            </a:r>
            <a:r>
              <a:rPr sz="2100" spc="-7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100" spc="-70" dirty="0">
                <a:solidFill>
                  <a:srgbClr val="232323"/>
                </a:solidFill>
                <a:latin typeface="Calibri"/>
                <a:cs typeface="Calibri"/>
              </a:rPr>
              <a:t>Flight</a:t>
            </a:r>
            <a:r>
              <a:rPr sz="21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00" spc="-95" dirty="0">
                <a:solidFill>
                  <a:srgbClr val="232323"/>
                </a:solidFill>
                <a:latin typeface="Calibri"/>
                <a:cs typeface="Calibri"/>
              </a:rPr>
              <a:t>Delay</a:t>
            </a:r>
            <a:r>
              <a:rPr sz="21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100" spc="-70" dirty="0" smtClean="0">
                <a:solidFill>
                  <a:srgbClr val="242424"/>
                </a:solidFill>
                <a:latin typeface="Calibri"/>
                <a:cs typeface="Calibri"/>
              </a:rPr>
              <a:t>Prediction</a:t>
            </a:r>
            <a:r>
              <a:rPr lang="en-IN" sz="2100" spc="-70" dirty="0" smtClean="0">
                <a:solidFill>
                  <a:srgbClr val="242424"/>
                </a:solidFill>
                <a:latin typeface="Calibri"/>
                <a:cs typeface="Calibri"/>
              </a:rPr>
              <a:t> (FDP)</a:t>
            </a:r>
            <a:endParaRPr sz="2100" dirty="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359"/>
              </a:spcBef>
            </a:pPr>
            <a:r>
              <a:rPr sz="950" dirty="0">
                <a:solidFill>
                  <a:srgbClr val="5B5B5B"/>
                </a:solidFill>
                <a:latin typeface="Calibri"/>
                <a:cs typeface="Calibri"/>
              </a:rPr>
              <a:t>Understanding</a:t>
            </a:r>
            <a:r>
              <a:rPr sz="950" spc="185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D5D5D"/>
                </a:solidFill>
                <a:latin typeface="Calibri"/>
                <a:cs typeface="Calibri"/>
              </a:rPr>
              <a:t>the</a:t>
            </a:r>
            <a:r>
              <a:rPr sz="950" spc="55" dirty="0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B5B5B"/>
                </a:solidFill>
                <a:latin typeface="Calibri"/>
                <a:cs typeface="Calibri"/>
              </a:rPr>
              <a:t>significance</a:t>
            </a:r>
            <a:r>
              <a:rPr sz="950" spc="165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B5B5B"/>
                </a:solidFill>
                <a:latin typeface="Calibri"/>
                <a:cs typeface="Calibri"/>
              </a:rPr>
              <a:t>and</a:t>
            </a:r>
            <a:r>
              <a:rPr sz="950" spc="60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B5B5B"/>
                </a:solidFill>
                <a:latin typeface="Calibri"/>
                <a:cs typeface="Calibri"/>
              </a:rPr>
              <a:t>impact</a:t>
            </a:r>
            <a:r>
              <a:rPr sz="950" spc="155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B5B5B"/>
                </a:solidFill>
                <a:latin typeface="Calibri"/>
                <a:cs typeface="Calibri"/>
              </a:rPr>
              <a:t>of</a:t>
            </a:r>
            <a:r>
              <a:rPr sz="950" spc="114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B5B5B"/>
                </a:solidFill>
                <a:latin typeface="Calibri"/>
                <a:cs typeface="Calibri"/>
              </a:rPr>
              <a:t>predicting</a:t>
            </a:r>
            <a:r>
              <a:rPr sz="950" spc="105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95959"/>
                </a:solidFill>
                <a:latin typeface="Calibri"/>
                <a:cs typeface="Calibri"/>
              </a:rPr>
              <a:t>flight</a:t>
            </a:r>
            <a:r>
              <a:rPr sz="950" spc="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5B5B5B"/>
                </a:solidFill>
                <a:latin typeface="Calibri"/>
                <a:cs typeface="Calibri"/>
              </a:rPr>
              <a:t>delays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518" y="858894"/>
            <a:ext cx="1968681" cy="3157916"/>
          </a:xfrm>
          <a:prstGeom prst="rect">
            <a:avLst/>
          </a:prstGeom>
        </p:spPr>
        <p:txBody>
          <a:bodyPr vert="horz" wrap="square" lIns="0" tIns="23177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825"/>
              </a:spcBef>
            </a:pPr>
            <a:r>
              <a:rPr sz="2400" spc="25" dirty="0">
                <a:solidFill>
                  <a:srgbClr val="01C397"/>
                </a:solidFill>
                <a:latin typeface="Calibri"/>
                <a:cs typeface="Calibri"/>
              </a:rPr>
              <a:t>01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lang="en-IN" sz="1400" b="1" spc="-10" dirty="0">
                <a:solidFill>
                  <a:srgbClr val="242424"/>
                </a:solidFill>
                <a:latin typeface="Calibri"/>
                <a:cs typeface="Calibri"/>
              </a:rPr>
              <a:t>F</a:t>
            </a:r>
            <a:r>
              <a:rPr sz="1400" b="1" spc="-10" dirty="0">
                <a:solidFill>
                  <a:srgbClr val="242424"/>
                </a:solidFill>
                <a:latin typeface="Calibri"/>
                <a:cs typeface="Calibri"/>
              </a:rPr>
              <a:t>light</a:t>
            </a:r>
            <a:r>
              <a:rPr lang="en-IN" sz="1400" b="1" spc="-1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42424"/>
                </a:solidFill>
                <a:latin typeface="Calibri"/>
                <a:cs typeface="Calibri"/>
              </a:rPr>
              <a:t>delays</a:t>
            </a:r>
            <a:endParaRPr lang="en-IN" sz="1400" b="1" spc="-10" dirty="0">
              <a:solidFill>
                <a:srgbClr val="242424"/>
              </a:solidFill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630"/>
              </a:spcBef>
              <a:buFont typeface="Wingdings" panose="05000000000000000000" pitchFamily="2" charset="2"/>
              <a:buChar char="§"/>
            </a:pPr>
            <a:r>
              <a:rPr lang="en-IN" sz="1200" dirty="0" smtClean="0">
                <a:latin typeface="Calibri"/>
                <a:cs typeface="Calibri"/>
              </a:rPr>
              <a:t>A significant issue in the aviation industry affecting  both passengers and airlines</a:t>
            </a:r>
          </a:p>
          <a:p>
            <a:pPr marL="184150" indent="-171450">
              <a:lnSpc>
                <a:spcPct val="100000"/>
              </a:lnSpc>
              <a:spcBef>
                <a:spcPts val="630"/>
              </a:spcBef>
              <a:buFont typeface="Wingdings" panose="05000000000000000000" pitchFamily="2" charset="2"/>
              <a:buChar char="§"/>
            </a:pPr>
            <a:r>
              <a:rPr lang="en-IN" sz="1200" dirty="0" smtClean="0">
                <a:latin typeface="Calibri"/>
                <a:cs typeface="Calibri"/>
              </a:rPr>
              <a:t>Delays  can disrupt schedules, incur financial costs, and lead to customer dissatisfaction</a:t>
            </a:r>
          </a:p>
          <a:p>
            <a:pPr marL="184150" indent="-171450">
              <a:lnSpc>
                <a:spcPct val="100000"/>
              </a:lnSpc>
              <a:spcBef>
                <a:spcPts val="630"/>
              </a:spcBef>
              <a:buFont typeface="Wingdings" panose="05000000000000000000" pitchFamily="2" charset="2"/>
              <a:buChar char="§"/>
            </a:pPr>
            <a:r>
              <a:rPr lang="en-IN" sz="1200" dirty="0" smtClean="0">
                <a:latin typeface="Calibri"/>
                <a:cs typeface="Calibri"/>
              </a:rPr>
              <a:t>Delays due to weather, ATC, Technical issues, late arrival, festive issues, security delays etc.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0" y="1066800"/>
            <a:ext cx="2133599" cy="25315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1C39E"/>
                </a:solidFill>
                <a:latin typeface="+mn-lt"/>
                <a:cs typeface="Courier New"/>
              </a:rPr>
              <a:t>02</a:t>
            </a:r>
            <a:endParaRPr sz="2400" dirty="0">
              <a:latin typeface="+mn-lt"/>
              <a:cs typeface="Courier New"/>
            </a:endParaRPr>
          </a:p>
          <a:p>
            <a:pPr marL="33655">
              <a:lnSpc>
                <a:spcPct val="100000"/>
              </a:lnSpc>
              <a:spcBef>
                <a:spcPts val="715"/>
              </a:spcBef>
            </a:pPr>
            <a:r>
              <a:rPr sz="1400" b="1" dirty="0">
                <a:solidFill>
                  <a:srgbClr val="242424"/>
                </a:solidFill>
                <a:latin typeface="+mn-lt"/>
                <a:cs typeface="Calibri" panose="020F0502020204030204" pitchFamily="34" charset="0"/>
              </a:rPr>
              <a:t>Importance</a:t>
            </a:r>
            <a:r>
              <a:rPr sz="1400" b="1" spc="-15" dirty="0">
                <a:solidFill>
                  <a:srgbClr val="242424"/>
                </a:solidFill>
                <a:latin typeface="+mn-lt"/>
                <a:cs typeface="Arial MT"/>
              </a:rPr>
              <a:t> </a:t>
            </a:r>
            <a:r>
              <a:rPr sz="1400" b="1" dirty="0">
                <a:solidFill>
                  <a:srgbClr val="262626"/>
                </a:solidFill>
                <a:latin typeface="+mn-lt"/>
                <a:cs typeface="Arial MT"/>
              </a:rPr>
              <a:t>of</a:t>
            </a:r>
            <a:r>
              <a:rPr sz="1400" b="1" spc="-30" dirty="0">
                <a:solidFill>
                  <a:srgbClr val="262626"/>
                </a:solidFill>
                <a:latin typeface="+mn-lt"/>
                <a:cs typeface="Arial MT"/>
              </a:rPr>
              <a:t> </a:t>
            </a:r>
            <a:r>
              <a:rPr lang="en-IN" sz="1400" b="1" spc="-10" dirty="0" smtClean="0">
                <a:solidFill>
                  <a:srgbClr val="232323"/>
                </a:solidFill>
                <a:latin typeface="+mn-lt"/>
                <a:cs typeface="Arial MT"/>
              </a:rPr>
              <a:t>FDP</a:t>
            </a:r>
            <a:endParaRPr sz="1400" b="1" dirty="0">
              <a:latin typeface="+mn-lt"/>
              <a:cs typeface="Arial MT"/>
            </a:endParaRPr>
          </a:p>
          <a:p>
            <a:pPr marL="207010" marR="5080" indent="-171450">
              <a:lnSpc>
                <a:spcPct val="113300"/>
              </a:lnSpc>
              <a:spcBef>
                <a:spcPts val="480"/>
              </a:spcBef>
              <a:buFont typeface="Wingdings" panose="05000000000000000000" pitchFamily="2" charset="2"/>
              <a:buChar char="§"/>
            </a:pPr>
            <a:r>
              <a:rPr lang="en-IN" sz="1200" spc="-40" dirty="0" smtClean="0">
                <a:solidFill>
                  <a:srgbClr val="242424"/>
                </a:solidFill>
                <a:latin typeface="Calibri"/>
                <a:cs typeface="Calibri"/>
              </a:rPr>
              <a:t>For  improving efficiency, cutting costs, and enhancing passenger satisfaction</a:t>
            </a:r>
          </a:p>
          <a:p>
            <a:pPr marL="207010" marR="5080" indent="-171450">
              <a:lnSpc>
                <a:spcPct val="113300"/>
              </a:lnSpc>
              <a:spcBef>
                <a:spcPts val="480"/>
              </a:spcBef>
              <a:buFont typeface="Wingdings" panose="05000000000000000000" pitchFamily="2" charset="2"/>
              <a:buChar char="§"/>
            </a:pPr>
            <a:r>
              <a:rPr lang="en-IN" sz="1200" spc="-40" dirty="0" smtClean="0">
                <a:solidFill>
                  <a:srgbClr val="242424"/>
                </a:solidFill>
                <a:latin typeface="Calibri"/>
                <a:cs typeface="Calibri"/>
              </a:rPr>
              <a:t> Optimizing airline operations by Utilizing delay predictions to streamline operations and reduce costs for airlines</a:t>
            </a:r>
          </a:p>
          <a:p>
            <a:pPr marL="207010" marR="5080" indent="-171450">
              <a:lnSpc>
                <a:spcPct val="113300"/>
              </a:lnSpc>
              <a:spcBef>
                <a:spcPts val="480"/>
              </a:spcBef>
              <a:buFont typeface="Wingdings" panose="05000000000000000000" pitchFamily="2" charset="2"/>
              <a:buChar char="§"/>
            </a:pPr>
            <a:endParaRPr sz="11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78398" y="1066800"/>
            <a:ext cx="3048001" cy="3168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2400" spc="-25" dirty="0" smtClean="0">
                <a:solidFill>
                  <a:srgbClr val="01C39A"/>
                </a:solidFill>
                <a:latin typeface="Calibri"/>
                <a:cs typeface="Calibri"/>
              </a:rPr>
              <a:t>0</a:t>
            </a:r>
            <a:r>
              <a:rPr lang="en-IN" sz="2400" spc="-25" dirty="0" smtClean="0">
                <a:solidFill>
                  <a:srgbClr val="01C39A"/>
                </a:solidFill>
                <a:latin typeface="Calibri"/>
                <a:cs typeface="Calibri"/>
              </a:rPr>
              <a:t>3</a:t>
            </a:r>
            <a:endParaRPr lang="en-IN" sz="2400" dirty="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sz="1400" b="1" spc="10" dirty="0" smtClean="0">
                <a:solidFill>
                  <a:srgbClr val="232323"/>
                </a:solidFill>
                <a:latin typeface="Calibri"/>
                <a:cs typeface="Calibri"/>
              </a:rPr>
              <a:t>Potential</a:t>
            </a:r>
            <a:r>
              <a:rPr sz="1400" b="1" spc="-30" dirty="0" smtClean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400" b="1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predictive </a:t>
            </a:r>
            <a:r>
              <a:rPr sz="1400" b="1" spc="10" dirty="0">
                <a:solidFill>
                  <a:srgbClr val="232323"/>
                </a:solidFill>
                <a:latin typeface="Calibri"/>
                <a:cs typeface="Calibri"/>
              </a:rPr>
              <a:t>analytics</a:t>
            </a:r>
            <a:r>
              <a:rPr sz="1400" b="1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262626"/>
                </a:solidFill>
                <a:latin typeface="Calibri"/>
                <a:cs typeface="Calibri"/>
              </a:rPr>
              <a:t>in</a:t>
            </a:r>
            <a:r>
              <a:rPr sz="1400" b="1" spc="4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forecasting </a:t>
            </a:r>
            <a:r>
              <a:rPr sz="1400" b="1" spc="-10" dirty="0">
                <a:solidFill>
                  <a:srgbClr val="262626"/>
                </a:solidFill>
                <a:latin typeface="Calibri"/>
                <a:cs typeface="Calibri"/>
              </a:rPr>
              <a:t>delays</a:t>
            </a:r>
            <a:endParaRPr sz="1400" b="1" dirty="0">
              <a:latin typeface="Calibri"/>
              <a:cs typeface="Calibri"/>
            </a:endParaRPr>
          </a:p>
          <a:p>
            <a:pPr marL="183515" marR="71755" indent="-171450">
              <a:lnSpc>
                <a:spcPct val="112599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IN" sz="1200" spc="-25" dirty="0" smtClean="0">
                <a:solidFill>
                  <a:srgbClr val="232323"/>
                </a:solidFill>
                <a:latin typeface="Calibri"/>
                <a:cs typeface="Calibri"/>
              </a:rPr>
              <a:t>FDP continuously </a:t>
            </a:r>
            <a:r>
              <a:rPr lang="en-IN" sz="1200" spc="-25" dirty="0">
                <a:solidFill>
                  <a:srgbClr val="232323"/>
                </a:solidFill>
                <a:latin typeface="Calibri"/>
                <a:cs typeface="Calibri"/>
              </a:rPr>
              <a:t>monitor weather forecasts, air traffic conditions, and incoming flight statuses to update delay predictions as new data </a:t>
            </a:r>
            <a:r>
              <a:rPr lang="en-IN" sz="1200" spc="-25" dirty="0" smtClean="0">
                <a:solidFill>
                  <a:srgbClr val="232323"/>
                </a:solidFill>
                <a:latin typeface="Calibri"/>
                <a:cs typeface="Calibri"/>
              </a:rPr>
              <a:t>arrives</a:t>
            </a:r>
            <a:endParaRPr lang="en-IN" sz="1200" spc="-25" dirty="0">
              <a:solidFill>
                <a:srgbClr val="232323"/>
              </a:solidFill>
              <a:latin typeface="Calibri"/>
              <a:cs typeface="Calibri"/>
            </a:endParaRPr>
          </a:p>
          <a:p>
            <a:pPr marL="183515" marR="71755" indent="-171450">
              <a:lnSpc>
                <a:spcPct val="112599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IN" sz="1200" dirty="0" smtClean="0">
                <a:latin typeface="Calibri"/>
                <a:cs typeface="Calibri"/>
              </a:rPr>
              <a:t>Proactive Decision-Making in resource allocation, passenger Communication, effective Crew and Aircraft Scheduling</a:t>
            </a:r>
          </a:p>
          <a:p>
            <a:pPr marL="183515" marR="71755" indent="-171450">
              <a:lnSpc>
                <a:spcPct val="112599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IN" sz="1200" dirty="0" smtClean="0">
                <a:latin typeface="Calibri"/>
                <a:cs typeface="Calibri"/>
              </a:rPr>
              <a:t>Improved Collaboration with Air Traffic Control</a:t>
            </a:r>
          </a:p>
          <a:p>
            <a:pPr marL="183515" marR="71755" indent="-171450">
              <a:lnSpc>
                <a:spcPct val="112599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IN" sz="1200" spc="-25" dirty="0" smtClean="0">
                <a:solidFill>
                  <a:srgbClr val="232323"/>
                </a:solidFill>
                <a:latin typeface="Calibri"/>
                <a:cs typeface="Calibri"/>
              </a:rPr>
              <a:t>Weather and Contingency Planning</a:t>
            </a:r>
            <a:endParaRPr sz="9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" y="0"/>
            <a:ext cx="8124952" cy="23774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3092" y="2466114"/>
            <a:ext cx="1288415" cy="202529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l">
              <a:lnSpc>
                <a:spcPct val="119400"/>
              </a:lnSpc>
              <a:spcBef>
                <a:spcPts val="130"/>
              </a:spcBef>
            </a:pPr>
            <a:r>
              <a:rPr lang="en-IN" sz="1400" b="1" spc="-30" dirty="0" smtClean="0">
                <a:solidFill>
                  <a:srgbClr val="212121"/>
                </a:solidFill>
                <a:latin typeface="Calibri"/>
                <a:cs typeface="Calibri"/>
              </a:rPr>
              <a:t>Forecasting</a:t>
            </a:r>
            <a:r>
              <a:rPr lang="en-IN" sz="1400" b="1" spc="40" dirty="0" smtClean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lang="en-IN" sz="1400" b="1" spc="-10" dirty="0" smtClean="0">
                <a:solidFill>
                  <a:srgbClr val="232323"/>
                </a:solidFill>
                <a:latin typeface="Calibri"/>
                <a:cs typeface="Calibri"/>
              </a:rPr>
              <a:t>Flight Delays</a:t>
            </a:r>
            <a:endParaRPr lang="en-IN" sz="1400" b="1" dirty="0" smtClean="0">
              <a:latin typeface="Calibri"/>
              <a:cs typeface="Calibri"/>
            </a:endParaRPr>
          </a:p>
          <a:p>
            <a:pPr marL="12700" marR="5080">
              <a:lnSpc>
                <a:spcPct val="119400"/>
              </a:lnSpc>
              <a:spcBef>
                <a:spcPts val="130"/>
              </a:spcBef>
            </a:pPr>
            <a:r>
              <a:rPr sz="900" dirty="0" smtClean="0">
                <a:solidFill>
                  <a:srgbClr val="212121"/>
                </a:solidFill>
                <a:latin typeface="Calibri"/>
                <a:cs typeface="Calibri"/>
              </a:rPr>
              <a:t>Accurately</a:t>
            </a:r>
            <a:r>
              <a:rPr sz="900" spc="-25" dirty="0" smtClean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32323"/>
                </a:solidFill>
                <a:latin typeface="Calibri"/>
                <a:cs typeface="Calibri"/>
              </a:rPr>
              <a:t>predict</a:t>
            </a:r>
            <a:r>
              <a:rPr sz="9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32323"/>
                </a:solidFill>
                <a:latin typeface="Calibri"/>
                <a:cs typeface="Calibri"/>
              </a:rPr>
              <a:t>flight</a:t>
            </a:r>
            <a:r>
              <a:rPr sz="900" spc="5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32323"/>
                </a:solidFill>
                <a:latin typeface="Calibri"/>
                <a:cs typeface="Calibri"/>
              </a:rPr>
              <a:t>delays</a:t>
            </a:r>
            <a:r>
              <a:rPr sz="9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32323"/>
                </a:solidFill>
                <a:latin typeface="Calibri"/>
                <a:cs typeface="Calibri"/>
              </a:rPr>
              <a:t>by</a:t>
            </a:r>
            <a:r>
              <a:rPr sz="9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Calibri"/>
                <a:cs typeface="Calibri"/>
              </a:rPr>
              <a:t>leveraging</a:t>
            </a:r>
            <a:r>
              <a:rPr sz="900" spc="5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Calibri"/>
                <a:cs typeface="Calibri"/>
              </a:rPr>
              <a:t>historical</a:t>
            </a:r>
            <a:r>
              <a:rPr sz="900" spc="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9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9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900" spc="-10" dirty="0" smtClean="0">
                <a:solidFill>
                  <a:srgbClr val="232323"/>
                </a:solidFill>
                <a:latin typeface="Calibri"/>
                <a:cs typeface="Calibri"/>
              </a:rPr>
              <a:t>advanced</a:t>
            </a:r>
            <a:r>
              <a:rPr lang="en-IN" sz="900" spc="5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900" dirty="0" smtClean="0">
                <a:solidFill>
                  <a:srgbClr val="232323"/>
                </a:solidFill>
                <a:latin typeface="Calibri"/>
                <a:cs typeface="Calibri"/>
              </a:rPr>
              <a:t>machine</a:t>
            </a:r>
            <a:r>
              <a:rPr sz="900" spc="-40" dirty="0" smtClean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900" spc="-10" dirty="0" smtClean="0">
                <a:solidFill>
                  <a:srgbClr val="232323"/>
                </a:solidFill>
                <a:latin typeface="Calibri"/>
                <a:cs typeface="Calibri"/>
              </a:rPr>
              <a:t>learning</a:t>
            </a:r>
            <a:r>
              <a:rPr lang="en-IN" sz="900" spc="500" dirty="0" smtClean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900" spc="-10" dirty="0" smtClean="0">
                <a:solidFill>
                  <a:srgbClr val="212121"/>
                </a:solidFill>
                <a:latin typeface="Calibri"/>
                <a:cs typeface="Calibri"/>
              </a:rPr>
              <a:t>techniques</a:t>
            </a:r>
            <a:r>
              <a:rPr lang="en-IN" sz="900" spc="-10" dirty="0" smtClean="0">
                <a:solidFill>
                  <a:srgbClr val="212121"/>
                </a:solidFill>
                <a:latin typeface="Calibri"/>
                <a:cs typeface="Calibri"/>
              </a:rPr>
              <a:t> such as logistic regression, random forest, gradient boosting and Bayesian statistics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21216" y="2385698"/>
            <a:ext cx="1398568" cy="1292533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23520">
              <a:lnSpc>
                <a:spcPct val="100000"/>
              </a:lnSpc>
              <a:spcBef>
                <a:spcPts val="795"/>
              </a:spcBef>
            </a:pPr>
            <a:r>
              <a:rPr sz="1400" b="1" dirty="0">
                <a:solidFill>
                  <a:srgbClr val="212121"/>
                </a:solidFill>
                <a:latin typeface="Calibri"/>
                <a:cs typeface="Calibri"/>
              </a:rPr>
              <a:t>Identifying</a:t>
            </a:r>
            <a:r>
              <a:rPr sz="1400" b="1" spc="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Patterns</a:t>
            </a:r>
            <a:endParaRPr sz="1400" b="1" dirty="0">
              <a:latin typeface="Calibri"/>
              <a:cs typeface="Calibri"/>
            </a:endParaRPr>
          </a:p>
          <a:p>
            <a:pPr marL="12700" marR="64135" indent="3175">
              <a:lnSpc>
                <a:spcPct val="112599"/>
              </a:lnSpc>
              <a:spcBef>
                <a:spcPts val="495"/>
              </a:spcBef>
            </a:pPr>
            <a:r>
              <a:rPr sz="1000" spc="-30" dirty="0">
                <a:solidFill>
                  <a:srgbClr val="212121"/>
                </a:solidFill>
                <a:latin typeface="Calibri"/>
                <a:cs typeface="Calibri"/>
              </a:rPr>
              <a:t>Analyze</a:t>
            </a:r>
            <a:r>
              <a:rPr sz="10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32323"/>
                </a:solidFill>
                <a:latin typeface="Calibri"/>
                <a:cs typeface="Calibri"/>
              </a:rPr>
              <a:t>vast</a:t>
            </a:r>
            <a:r>
              <a:rPr sz="10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12121"/>
                </a:solidFill>
                <a:latin typeface="Calibri"/>
                <a:cs typeface="Calibri"/>
              </a:rPr>
              <a:t>datasets</a:t>
            </a:r>
            <a:r>
              <a:rPr sz="1000" spc="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000" spc="5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35" dirty="0">
                <a:solidFill>
                  <a:srgbClr val="212121"/>
                </a:solidFill>
                <a:latin typeface="Calibri"/>
                <a:cs typeface="Calibri"/>
              </a:rPr>
              <a:t>uncover</a:t>
            </a:r>
            <a:r>
              <a:rPr sz="1000" spc="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30" dirty="0">
                <a:solidFill>
                  <a:srgbClr val="212121"/>
                </a:solidFill>
                <a:latin typeface="Calibri"/>
                <a:cs typeface="Calibri"/>
              </a:rPr>
              <a:t>patterns</a:t>
            </a:r>
            <a:r>
              <a:rPr sz="10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000" spc="5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12121"/>
                </a:solidFill>
                <a:latin typeface="Calibri"/>
                <a:cs typeface="Calibri"/>
              </a:rPr>
              <a:t>correlations</a:t>
            </a:r>
            <a:r>
              <a:rPr sz="1000" spc="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35" dirty="0">
                <a:solidFill>
                  <a:srgbClr val="212121"/>
                </a:solidFill>
                <a:latin typeface="Calibri"/>
                <a:cs typeface="Calibri"/>
              </a:rPr>
              <a:t>that</a:t>
            </a:r>
            <a:r>
              <a:rPr sz="1000" spc="-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Calibri"/>
                <a:cs typeface="Calibri"/>
              </a:rPr>
              <a:t>can</a:t>
            </a:r>
            <a:r>
              <a:rPr sz="1000" spc="-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Calibri"/>
                <a:cs typeface="Calibri"/>
              </a:rPr>
              <a:t>boost</a:t>
            </a:r>
            <a:r>
              <a:rPr sz="1000" spc="5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30" dirty="0">
                <a:solidFill>
                  <a:srgbClr val="232323"/>
                </a:solidFill>
                <a:latin typeface="Calibri"/>
                <a:cs typeface="Calibri"/>
              </a:rPr>
              <a:t>predictive</a:t>
            </a:r>
            <a:r>
              <a:rPr sz="10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Calibri"/>
                <a:cs typeface="Calibri"/>
              </a:rPr>
              <a:t>accuracy.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01238" y="2548382"/>
            <a:ext cx="1119962" cy="155222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4604" marR="170815" indent="214629">
              <a:lnSpc>
                <a:spcPct val="104800"/>
              </a:lnSpc>
              <a:spcBef>
                <a:spcPts val="40"/>
              </a:spcBef>
            </a:pPr>
            <a:r>
              <a:rPr sz="1400" b="1" spc="-10" dirty="0">
                <a:solidFill>
                  <a:srgbClr val="232323"/>
                </a:solidFill>
                <a:latin typeface="Calibri"/>
                <a:cs typeface="Calibri"/>
              </a:rPr>
              <a:t>Reducing </a:t>
            </a:r>
            <a:r>
              <a:rPr lang="en-IN" sz="1400" b="1" spc="-35" dirty="0" smtClean="0">
                <a:solidFill>
                  <a:srgbClr val="212121"/>
                </a:solidFill>
                <a:latin typeface="Calibri"/>
                <a:cs typeface="Calibri"/>
              </a:rPr>
              <a:t>O/p</a:t>
            </a:r>
            <a:r>
              <a:rPr sz="1400" b="1" spc="35" dirty="0" smtClean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Calibri"/>
                <a:cs typeface="Calibri"/>
              </a:rPr>
              <a:t>Costs</a:t>
            </a:r>
            <a:endParaRPr sz="1400" b="1" dirty="0">
              <a:latin typeface="Calibri"/>
              <a:cs typeface="Calibri"/>
            </a:endParaRPr>
          </a:p>
          <a:p>
            <a:pPr marL="12700" marR="5080">
              <a:lnSpc>
                <a:spcPct val="113300"/>
              </a:lnSpc>
              <a:spcBef>
                <a:spcPts val="425"/>
              </a:spcBef>
            </a:pPr>
            <a:r>
              <a:rPr sz="1000" spc="-35" dirty="0">
                <a:solidFill>
                  <a:srgbClr val="242424"/>
                </a:solidFill>
                <a:latin typeface="Calibri"/>
                <a:cs typeface="Calibri"/>
              </a:rPr>
              <a:t>Aim</a:t>
            </a:r>
            <a:r>
              <a:rPr sz="1000" spc="1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000" spc="-45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0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45" dirty="0">
                <a:solidFill>
                  <a:srgbClr val="242424"/>
                </a:solidFill>
                <a:latin typeface="Calibri"/>
                <a:cs typeface="Calibri"/>
              </a:rPr>
              <a:t>lower</a:t>
            </a:r>
            <a:r>
              <a:rPr sz="1000" spc="2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12121"/>
                </a:solidFill>
                <a:latin typeface="Calibri"/>
                <a:cs typeface="Calibri"/>
              </a:rPr>
              <a:t>operational</a:t>
            </a:r>
            <a:r>
              <a:rPr sz="1000" spc="5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Calibri"/>
                <a:cs typeface="Calibri"/>
              </a:rPr>
              <a:t>expenses</a:t>
            </a:r>
            <a:r>
              <a:rPr sz="1000" spc="-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55" dirty="0">
                <a:solidFill>
                  <a:srgbClr val="262626"/>
                </a:solidFill>
                <a:latin typeface="Calibri"/>
                <a:cs typeface="Calibri"/>
              </a:rPr>
              <a:t>by</a:t>
            </a:r>
            <a:r>
              <a:rPr sz="1000" spc="-2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32323"/>
                </a:solidFill>
                <a:latin typeface="Calibri"/>
                <a:cs typeface="Calibri"/>
              </a:rPr>
              <a:t>anticipating</a:t>
            </a:r>
            <a:r>
              <a:rPr sz="1000" spc="5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12121"/>
                </a:solidFill>
                <a:latin typeface="Calibri"/>
                <a:cs typeface="Calibri"/>
              </a:rPr>
              <a:t>delays </a:t>
            </a:r>
            <a:r>
              <a:rPr sz="1000" spc="-2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0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Calibri"/>
                <a:cs typeface="Calibri"/>
              </a:rPr>
              <a:t>optimizing</a:t>
            </a:r>
            <a:r>
              <a:rPr sz="1000" spc="5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25" dirty="0">
                <a:solidFill>
                  <a:srgbClr val="232323"/>
                </a:solidFill>
                <a:latin typeface="Calibri"/>
                <a:cs typeface="Calibri"/>
              </a:rPr>
              <a:t>resource</a:t>
            </a:r>
            <a:r>
              <a:rPr sz="10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32323"/>
                </a:solidFill>
                <a:latin typeface="Calibri"/>
                <a:cs typeface="Calibri"/>
              </a:rPr>
              <a:t>allocation.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53834" y="2548382"/>
            <a:ext cx="1687331" cy="120443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7145" marR="78105" indent="212725">
              <a:lnSpc>
                <a:spcPct val="104800"/>
              </a:lnSpc>
              <a:spcBef>
                <a:spcPts val="40"/>
              </a:spcBef>
            </a:pPr>
            <a:r>
              <a:rPr sz="1400" b="1" spc="-10" dirty="0">
                <a:solidFill>
                  <a:srgbClr val="212121"/>
                </a:solidFill>
                <a:latin typeface="Calibri"/>
                <a:cs typeface="Calibri"/>
              </a:rPr>
              <a:t>Enhancing </a:t>
            </a:r>
            <a:r>
              <a:rPr sz="1400" b="1" spc="-25" dirty="0">
                <a:solidFill>
                  <a:srgbClr val="212121"/>
                </a:solidFill>
                <a:latin typeface="Calibri"/>
                <a:cs typeface="Calibri"/>
              </a:rPr>
              <a:t>Passenger</a:t>
            </a:r>
            <a:r>
              <a:rPr sz="1400" b="1" spc="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Calibri"/>
                <a:cs typeface="Calibri"/>
              </a:rPr>
              <a:t>Experience</a:t>
            </a:r>
            <a:endParaRPr sz="1400" b="1" dirty="0">
              <a:latin typeface="Calibri"/>
              <a:cs typeface="Calibri"/>
            </a:endParaRPr>
          </a:p>
          <a:p>
            <a:pPr marL="16510" marR="5080" indent="-4445">
              <a:lnSpc>
                <a:spcPct val="113300"/>
              </a:lnSpc>
              <a:spcBef>
                <a:spcPts val="425"/>
              </a:spcBef>
            </a:pPr>
            <a:r>
              <a:rPr sz="1000" spc="-20" dirty="0">
                <a:solidFill>
                  <a:srgbClr val="212121"/>
                </a:solidFill>
                <a:latin typeface="Calibri"/>
                <a:cs typeface="Calibri"/>
              </a:rPr>
              <a:t>Improve</a:t>
            </a:r>
            <a:r>
              <a:rPr sz="1000" spc="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40" dirty="0">
                <a:solidFill>
                  <a:srgbClr val="232323"/>
                </a:solidFill>
                <a:latin typeface="Calibri"/>
                <a:cs typeface="Calibri"/>
              </a:rPr>
              <a:t>the </a:t>
            </a:r>
            <a:r>
              <a:rPr sz="1000" spc="-25" dirty="0">
                <a:solidFill>
                  <a:srgbClr val="232323"/>
                </a:solidFill>
                <a:latin typeface="Calibri"/>
                <a:cs typeface="Calibri"/>
              </a:rPr>
              <a:t>overall</a:t>
            </a:r>
            <a:r>
              <a:rPr sz="10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32323"/>
                </a:solidFill>
                <a:latin typeface="Calibri"/>
                <a:cs typeface="Calibri"/>
              </a:rPr>
              <a:t>travel</a:t>
            </a:r>
            <a:r>
              <a:rPr sz="1000" spc="5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30" dirty="0">
                <a:solidFill>
                  <a:srgbClr val="232323"/>
                </a:solidFill>
                <a:latin typeface="Calibri"/>
                <a:cs typeface="Calibri"/>
              </a:rPr>
              <a:t>experience</a:t>
            </a:r>
            <a:r>
              <a:rPr sz="100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45" dirty="0">
                <a:solidFill>
                  <a:srgbClr val="212121"/>
                </a:solidFill>
                <a:latin typeface="Calibri"/>
                <a:cs typeface="Calibri"/>
              </a:rPr>
              <a:t>for</a:t>
            </a:r>
            <a:r>
              <a:rPr sz="1000" spc="-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Calibri"/>
                <a:cs typeface="Calibri"/>
              </a:rPr>
              <a:t>passengers</a:t>
            </a:r>
            <a:r>
              <a:rPr sz="1000" spc="5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40" dirty="0">
                <a:solidFill>
                  <a:srgbClr val="212121"/>
                </a:solidFill>
                <a:latin typeface="Calibri"/>
                <a:cs typeface="Calibri"/>
              </a:rPr>
              <a:t>through</a:t>
            </a:r>
            <a:r>
              <a:rPr sz="1000" spc="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30" dirty="0">
                <a:solidFill>
                  <a:srgbClr val="232323"/>
                </a:solidFill>
                <a:latin typeface="Calibri"/>
                <a:cs typeface="Calibri"/>
              </a:rPr>
              <a:t>timely</a:t>
            </a:r>
            <a:r>
              <a:rPr sz="10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25" dirty="0" smtClean="0">
                <a:solidFill>
                  <a:srgbClr val="212121"/>
                </a:solidFill>
                <a:latin typeface="Calibri"/>
                <a:cs typeface="Calibri"/>
              </a:rPr>
              <a:t>notifications</a:t>
            </a:r>
            <a:r>
              <a:rPr lang="en-IN" sz="1000" spc="-25" dirty="0" smtClean="0">
                <a:solidFill>
                  <a:srgbClr val="212121"/>
                </a:solidFill>
                <a:latin typeface="Calibri"/>
                <a:cs typeface="Calibri"/>
              </a:rPr>
              <a:t> &amp;</a:t>
            </a:r>
            <a:r>
              <a:rPr lang="en-IN" sz="1000" spc="500" dirty="0" smtClean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10" dirty="0" smtClean="0">
                <a:solidFill>
                  <a:srgbClr val="212121"/>
                </a:solidFill>
                <a:latin typeface="Calibri"/>
                <a:cs typeface="Calibri"/>
              </a:rPr>
              <a:t>adjustments</a:t>
            </a:r>
            <a:r>
              <a:rPr sz="1000" spc="-10" dirty="0">
                <a:solidFill>
                  <a:srgbClr val="212121"/>
                </a:solidFill>
                <a:latin typeface="Calibri"/>
                <a:cs typeface="Calibri"/>
              </a:rPr>
              <a:t>.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800" y="2548382"/>
            <a:ext cx="1752600" cy="1077859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225"/>
              </a:spcBef>
            </a:pPr>
            <a:r>
              <a:rPr sz="1400" b="1" dirty="0">
                <a:solidFill>
                  <a:srgbClr val="232323"/>
                </a:solidFill>
                <a:latin typeface="+mn-lt"/>
                <a:cs typeface="Arial MT"/>
              </a:rPr>
              <a:t>Improving</a:t>
            </a:r>
            <a:r>
              <a:rPr sz="1400" b="1" spc="235" dirty="0">
                <a:solidFill>
                  <a:srgbClr val="232323"/>
                </a:solidFill>
                <a:latin typeface="+mn-lt"/>
                <a:cs typeface="Arial MT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+mn-lt"/>
                <a:cs typeface="Arial MT"/>
              </a:rPr>
              <a:t>On-Time</a:t>
            </a:r>
            <a:endParaRPr sz="1400" b="1" dirty="0">
              <a:latin typeface="+mn-l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140"/>
              </a:spcBef>
            </a:pPr>
            <a:r>
              <a:rPr sz="1400" b="1" spc="-10" dirty="0">
                <a:solidFill>
                  <a:srgbClr val="232323"/>
                </a:solidFill>
                <a:latin typeface="+mn-lt"/>
                <a:cs typeface="Arial MT"/>
              </a:rPr>
              <a:t>Performance</a:t>
            </a:r>
            <a:endParaRPr sz="1400" b="1" dirty="0">
              <a:latin typeface="+mn-lt"/>
              <a:cs typeface="Arial MT"/>
            </a:endParaRPr>
          </a:p>
          <a:p>
            <a:pPr marL="13335" marR="5080" indent="-1270">
              <a:lnSpc>
                <a:spcPct val="120000"/>
              </a:lnSpc>
              <a:spcBef>
                <a:spcPts val="425"/>
              </a:spcBef>
            </a:pPr>
            <a:r>
              <a:rPr sz="1000" dirty="0">
                <a:solidFill>
                  <a:srgbClr val="232323"/>
                </a:solidFill>
                <a:latin typeface="Calibri"/>
                <a:cs typeface="Calibri"/>
              </a:rPr>
              <a:t>Focus</a:t>
            </a:r>
            <a:r>
              <a:rPr sz="10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32323"/>
                </a:solidFill>
                <a:latin typeface="Calibri"/>
                <a:cs typeface="Calibri"/>
              </a:rPr>
              <a:t>on</a:t>
            </a:r>
            <a:r>
              <a:rPr sz="10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32323"/>
                </a:solidFill>
                <a:latin typeface="Calibri"/>
                <a:cs typeface="Calibri"/>
              </a:rPr>
              <a:t>increasing</a:t>
            </a:r>
            <a:r>
              <a:rPr sz="10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32323"/>
                </a:solidFill>
                <a:latin typeface="Calibri"/>
                <a:cs typeface="Calibri"/>
              </a:rPr>
              <a:t>on-</a:t>
            </a:r>
            <a:r>
              <a:rPr sz="1000" spc="-20" dirty="0">
                <a:solidFill>
                  <a:srgbClr val="232323"/>
                </a:solidFill>
                <a:latin typeface="Calibri"/>
                <a:cs typeface="Calibri"/>
              </a:rPr>
              <a:t>time</a:t>
            </a:r>
            <a:r>
              <a:rPr sz="1000" spc="5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32323"/>
                </a:solidFill>
                <a:latin typeface="Calibri"/>
                <a:cs typeface="Calibri"/>
              </a:rPr>
              <a:t>performance</a:t>
            </a:r>
            <a:r>
              <a:rPr sz="1000" spc="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12121"/>
                </a:solidFill>
                <a:latin typeface="Calibri"/>
                <a:cs typeface="Calibri"/>
              </a:rPr>
              <a:t>metrics </a:t>
            </a:r>
            <a:r>
              <a:rPr sz="1000" spc="-25" dirty="0" smtClean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lang="en-IN" sz="1000" spc="-25" dirty="0" smtClean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00" dirty="0" smtClean="0">
                <a:solidFill>
                  <a:srgbClr val="232323"/>
                </a:solidFill>
                <a:latin typeface="Calibri"/>
                <a:cs typeface="Calibri"/>
              </a:rPr>
              <a:t>airlines </a:t>
            </a:r>
            <a:r>
              <a:rPr sz="1000" dirty="0">
                <a:solidFill>
                  <a:srgbClr val="242424"/>
                </a:solidFill>
                <a:latin typeface="Calibri"/>
                <a:cs typeface="Calibri"/>
              </a:rPr>
              <a:t>by</a:t>
            </a:r>
            <a:r>
              <a:rPr sz="1000" spc="-3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Calibri"/>
                <a:cs typeface="Calibri"/>
              </a:rPr>
              <a:t>minimizing</a:t>
            </a:r>
            <a:r>
              <a:rPr sz="1000" spc="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10" dirty="0" smtClean="0">
                <a:solidFill>
                  <a:srgbClr val="212121"/>
                </a:solidFill>
                <a:latin typeface="Calibri"/>
                <a:cs typeface="Calibri"/>
              </a:rPr>
              <a:t>delay</a:t>
            </a:r>
            <a:r>
              <a:rPr lang="en-IN" sz="1000" spc="-10" dirty="0" smtClean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10" dirty="0" smtClean="0">
                <a:solidFill>
                  <a:srgbClr val="212121"/>
                </a:solidFill>
                <a:latin typeface="Calibri"/>
                <a:cs typeface="Calibri"/>
              </a:rPr>
              <a:t>occurrences</a:t>
            </a:r>
            <a:r>
              <a:rPr sz="1000" spc="-10" dirty="0">
                <a:solidFill>
                  <a:srgbClr val="212121"/>
                </a:solidFill>
                <a:latin typeface="Calibri"/>
                <a:cs typeface="Calibri"/>
              </a:rPr>
              <a:t>.</a:t>
            </a:r>
            <a:endParaRPr sz="10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5523" y="2426207"/>
            <a:ext cx="444952" cy="457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3905" y="2426207"/>
            <a:ext cx="463238" cy="4754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2761" y="2426207"/>
            <a:ext cx="432761" cy="45720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041524" y="2950464"/>
            <a:ext cx="2051050" cy="841375"/>
            <a:chOff x="3041524" y="2950464"/>
            <a:chExt cx="2051050" cy="84137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1524" y="2950464"/>
              <a:ext cx="259047" cy="4450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33523" y="2950464"/>
              <a:ext cx="259047" cy="4450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21904" y="3361944"/>
              <a:ext cx="1490285" cy="42976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041524" y="1524000"/>
            <a:ext cx="1280160" cy="838200"/>
            <a:chOff x="3041524" y="1524000"/>
            <a:chExt cx="1280160" cy="838200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41524" y="1917191"/>
              <a:ext cx="259047" cy="44500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21904" y="1524000"/>
              <a:ext cx="999619" cy="42671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382476" y="1524000"/>
            <a:ext cx="710565" cy="838200"/>
            <a:chOff x="4382476" y="1524000"/>
            <a:chExt cx="710565" cy="83820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33523" y="1917191"/>
              <a:ext cx="259047" cy="44500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82476" y="1524000"/>
              <a:ext cx="429714" cy="42367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605"/>
              </a:spcBef>
            </a:pPr>
            <a:r>
              <a:rPr sz="2150" spc="-175" dirty="0">
                <a:solidFill>
                  <a:srgbClr val="242424"/>
                </a:solidFill>
              </a:rPr>
              <a:t>Motivation</a:t>
            </a:r>
            <a:r>
              <a:rPr sz="2150" spc="160" dirty="0">
                <a:solidFill>
                  <a:srgbClr val="242424"/>
                </a:solidFill>
              </a:rPr>
              <a:t> </a:t>
            </a:r>
            <a:r>
              <a:rPr sz="2150" spc="-145" dirty="0">
                <a:solidFill>
                  <a:srgbClr val="242424"/>
                </a:solidFill>
              </a:rPr>
              <a:t>for</a:t>
            </a:r>
            <a:r>
              <a:rPr sz="2150" spc="-90" dirty="0">
                <a:solidFill>
                  <a:srgbClr val="242424"/>
                </a:solidFill>
              </a:rPr>
              <a:t> </a:t>
            </a:r>
            <a:r>
              <a:rPr sz="2150" spc="-100" dirty="0">
                <a:solidFill>
                  <a:srgbClr val="242424"/>
                </a:solidFill>
              </a:rPr>
              <a:t>Using</a:t>
            </a:r>
            <a:r>
              <a:rPr sz="2150" spc="-50" dirty="0">
                <a:solidFill>
                  <a:srgbClr val="242424"/>
                </a:solidFill>
              </a:rPr>
              <a:t> </a:t>
            </a:r>
            <a:r>
              <a:rPr sz="2150" spc="-145" dirty="0"/>
              <a:t>Machine</a:t>
            </a:r>
            <a:r>
              <a:rPr sz="2150" spc="45" dirty="0"/>
              <a:t> </a:t>
            </a:r>
            <a:r>
              <a:rPr sz="2150" spc="-75" dirty="0">
                <a:solidFill>
                  <a:srgbClr val="242424"/>
                </a:solidFill>
              </a:rPr>
              <a:t>Learning</a:t>
            </a:r>
            <a:endParaRPr sz="2150" dirty="0"/>
          </a:p>
          <a:p>
            <a:pPr marL="14604">
              <a:lnSpc>
                <a:spcPct val="100000"/>
              </a:lnSpc>
              <a:spcBef>
                <a:spcPts val="250"/>
              </a:spcBef>
            </a:pPr>
            <a:r>
              <a:rPr sz="1050" spc="-25" dirty="0">
                <a:solidFill>
                  <a:srgbClr val="565656"/>
                </a:solidFill>
              </a:rPr>
              <a:t>Exploring</a:t>
            </a:r>
            <a:r>
              <a:rPr sz="1050" spc="-20" dirty="0">
                <a:solidFill>
                  <a:srgbClr val="565656"/>
                </a:solidFill>
              </a:rPr>
              <a:t> </a:t>
            </a:r>
            <a:r>
              <a:rPr sz="1050" spc="-35" dirty="0">
                <a:solidFill>
                  <a:srgbClr val="5B5B5B"/>
                </a:solidFill>
              </a:rPr>
              <a:t>the</a:t>
            </a:r>
            <a:r>
              <a:rPr sz="1050" spc="-25" dirty="0">
                <a:solidFill>
                  <a:srgbClr val="5B5B5B"/>
                </a:solidFill>
              </a:rPr>
              <a:t> </a:t>
            </a:r>
            <a:r>
              <a:rPr sz="1050" spc="-25" dirty="0">
                <a:solidFill>
                  <a:srgbClr val="595959"/>
                </a:solidFill>
              </a:rPr>
              <a:t>Benefits</a:t>
            </a:r>
            <a:r>
              <a:rPr sz="1050" spc="20" dirty="0">
                <a:solidFill>
                  <a:srgbClr val="595959"/>
                </a:solidFill>
              </a:rPr>
              <a:t> </a:t>
            </a:r>
            <a:r>
              <a:rPr sz="1050" spc="-50" dirty="0">
                <a:solidFill>
                  <a:srgbClr val="565656"/>
                </a:solidFill>
              </a:rPr>
              <a:t>of</a:t>
            </a:r>
            <a:r>
              <a:rPr sz="1050" spc="-5" dirty="0">
                <a:solidFill>
                  <a:srgbClr val="565656"/>
                </a:solidFill>
              </a:rPr>
              <a:t> </a:t>
            </a:r>
            <a:r>
              <a:rPr sz="1050" spc="-35" dirty="0">
                <a:solidFill>
                  <a:srgbClr val="575757"/>
                </a:solidFill>
              </a:rPr>
              <a:t>machine</a:t>
            </a:r>
            <a:r>
              <a:rPr sz="1050" spc="10" dirty="0">
                <a:solidFill>
                  <a:srgbClr val="575757"/>
                </a:solidFill>
              </a:rPr>
              <a:t> </a:t>
            </a:r>
            <a:r>
              <a:rPr sz="1050" spc="-30" dirty="0">
                <a:solidFill>
                  <a:srgbClr val="5B5B5B"/>
                </a:solidFill>
              </a:rPr>
              <a:t>Learning</a:t>
            </a:r>
            <a:r>
              <a:rPr sz="1050" spc="10" dirty="0">
                <a:solidFill>
                  <a:srgbClr val="5B5B5B"/>
                </a:solidFill>
              </a:rPr>
              <a:t> </a:t>
            </a:r>
            <a:r>
              <a:rPr sz="1050" spc="-45" dirty="0">
                <a:solidFill>
                  <a:srgbClr val="565656"/>
                </a:solidFill>
              </a:rPr>
              <a:t>in</a:t>
            </a:r>
            <a:r>
              <a:rPr sz="1050" spc="-20" dirty="0">
                <a:solidFill>
                  <a:srgbClr val="565656"/>
                </a:solidFill>
              </a:rPr>
              <a:t> </a:t>
            </a:r>
            <a:r>
              <a:rPr sz="1050" spc="-20" dirty="0">
                <a:solidFill>
                  <a:srgbClr val="595959"/>
                </a:solidFill>
              </a:rPr>
              <a:t>Flight</a:t>
            </a:r>
            <a:r>
              <a:rPr sz="1050" spc="-5" dirty="0">
                <a:solidFill>
                  <a:srgbClr val="595959"/>
                </a:solidFill>
              </a:rPr>
              <a:t> </a:t>
            </a:r>
            <a:r>
              <a:rPr sz="1050" spc="-25" dirty="0">
                <a:solidFill>
                  <a:srgbClr val="5B5B5B"/>
                </a:solidFill>
              </a:rPr>
              <a:t>Delay</a:t>
            </a:r>
            <a:r>
              <a:rPr sz="1050" spc="-5" dirty="0">
                <a:solidFill>
                  <a:srgbClr val="5B5B5B"/>
                </a:solidFill>
              </a:rPr>
              <a:t> </a:t>
            </a:r>
            <a:r>
              <a:rPr sz="1050" spc="-10" dirty="0">
                <a:solidFill>
                  <a:srgbClr val="575757"/>
                </a:solidFill>
              </a:rPr>
              <a:t>Prediction</a:t>
            </a:r>
            <a:endParaRPr sz="1050" dirty="0"/>
          </a:p>
        </p:txBody>
      </p:sp>
      <p:sp>
        <p:nvSpPr>
          <p:cNvPr id="17" name="object 17"/>
          <p:cNvSpPr txBox="1"/>
          <p:nvPr/>
        </p:nvSpPr>
        <p:spPr>
          <a:xfrm>
            <a:off x="177800" y="1407788"/>
            <a:ext cx="2883855" cy="819454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R="12700" algn="r">
              <a:lnSpc>
                <a:spcPct val="100000"/>
              </a:lnSpc>
              <a:spcBef>
                <a:spcPts val="489"/>
              </a:spcBef>
            </a:pPr>
            <a:r>
              <a:rPr sz="1200" b="1" spc="-10" dirty="0">
                <a:solidFill>
                  <a:srgbClr val="232323"/>
                </a:solidFill>
                <a:latin typeface="Calibri"/>
                <a:cs typeface="Calibri"/>
              </a:rPr>
              <a:t>Scalability</a:t>
            </a:r>
            <a:r>
              <a:rPr sz="1200" b="1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200" b="1" spc="-30" dirty="0">
                <a:solidFill>
                  <a:srgbClr val="262626"/>
                </a:solidFill>
                <a:latin typeface="Calibri"/>
                <a:cs typeface="Calibri"/>
              </a:rPr>
              <a:t>and </a:t>
            </a:r>
            <a:r>
              <a:rPr sz="1200" b="1" spc="-10" dirty="0">
                <a:solidFill>
                  <a:srgbClr val="232323"/>
                </a:solidFill>
                <a:latin typeface="Calibri"/>
                <a:cs typeface="Calibri"/>
              </a:rPr>
              <a:t>Adaptability</a:t>
            </a:r>
            <a:endParaRPr sz="1200" b="1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350"/>
              </a:spcBef>
            </a:pPr>
            <a:r>
              <a:rPr sz="1100" spc="-60" dirty="0">
                <a:solidFill>
                  <a:srgbClr val="232323"/>
                </a:solidFill>
                <a:latin typeface="Calibri"/>
                <a:cs typeface="Calibri"/>
              </a:rPr>
              <a:t>Offers</a:t>
            </a:r>
            <a:r>
              <a:rPr sz="1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32323"/>
                </a:solidFill>
                <a:latin typeface="Calibri"/>
                <a:cs typeface="Calibri"/>
              </a:rPr>
              <a:t>scalable</a:t>
            </a:r>
            <a:r>
              <a:rPr sz="11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65" dirty="0">
                <a:solidFill>
                  <a:srgbClr val="242424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42424"/>
                </a:solidFill>
                <a:latin typeface="Calibri"/>
                <a:cs typeface="Calibri"/>
              </a:rPr>
              <a:t>adaptable</a:t>
            </a:r>
            <a:r>
              <a:rPr sz="1100" spc="7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32323"/>
                </a:solidFill>
                <a:latin typeface="Calibri"/>
                <a:cs typeface="Calibri"/>
              </a:rPr>
              <a:t>solutions</a:t>
            </a:r>
            <a:r>
              <a:rPr sz="110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7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262626"/>
                </a:solidFill>
                <a:latin typeface="Calibri"/>
                <a:cs typeface="Calibri"/>
              </a:rPr>
              <a:t>dynamic</a:t>
            </a:r>
            <a:r>
              <a:rPr sz="1100" spc="1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62626"/>
                </a:solidFill>
                <a:latin typeface="Calibri"/>
                <a:cs typeface="Calibri"/>
              </a:rPr>
              <a:t>and</a:t>
            </a:r>
            <a:endParaRPr sz="1100" dirty="0">
              <a:latin typeface="Calibri"/>
              <a:cs typeface="Calibri"/>
            </a:endParaRPr>
          </a:p>
          <a:p>
            <a:pPr marR="15875" algn="r">
              <a:lnSpc>
                <a:spcPct val="100000"/>
              </a:lnSpc>
              <a:spcBef>
                <a:spcPts val="85"/>
              </a:spcBef>
            </a:pPr>
            <a:r>
              <a:rPr sz="1100" spc="-50" dirty="0">
                <a:solidFill>
                  <a:srgbClr val="232323"/>
                </a:solidFill>
                <a:latin typeface="Calibri"/>
                <a:cs typeface="Calibri"/>
              </a:rPr>
              <a:t>changing</a:t>
            </a:r>
            <a:r>
              <a:rPr sz="1100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environments</a:t>
            </a:r>
            <a:r>
              <a:rPr sz="950" spc="-10" dirty="0">
                <a:solidFill>
                  <a:srgbClr val="232323"/>
                </a:solidFill>
                <a:latin typeface="Calibri"/>
                <a:cs typeface="Calibri"/>
              </a:rPr>
              <a:t>.</a:t>
            </a:r>
            <a:endParaRPr sz="95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0" y="2330605"/>
            <a:ext cx="2530503" cy="671979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70"/>
              </a:spcBef>
            </a:pPr>
            <a:r>
              <a:rPr sz="1200" b="1" dirty="0">
                <a:solidFill>
                  <a:srgbClr val="212121"/>
                </a:solidFill>
                <a:latin typeface="Calibri"/>
                <a:cs typeface="Calibri"/>
              </a:rPr>
              <a:t>Real-Time</a:t>
            </a:r>
            <a:r>
              <a:rPr sz="1200" b="1" spc="2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12121"/>
                </a:solidFill>
                <a:latin typeface="Calibri"/>
                <a:cs typeface="Calibri"/>
              </a:rPr>
              <a:t>Predictions</a:t>
            </a:r>
            <a:endParaRPr sz="1200" b="1" dirty="0">
              <a:latin typeface="Calibri"/>
              <a:cs typeface="Calibri"/>
            </a:endParaRPr>
          </a:p>
          <a:p>
            <a:pPr marL="12700" marR="5080" indent="205740" algn="r">
              <a:lnSpc>
                <a:spcPct val="111100"/>
              </a:lnSpc>
              <a:spcBef>
                <a:spcPts val="325"/>
              </a:spcBef>
            </a:pPr>
            <a:r>
              <a:rPr sz="1100" spc="-25" dirty="0">
                <a:solidFill>
                  <a:srgbClr val="212121"/>
                </a:solidFill>
                <a:latin typeface="Calibri"/>
                <a:cs typeface="Calibri"/>
              </a:rPr>
              <a:t>Provides</a:t>
            </a:r>
            <a:r>
              <a:rPr sz="1100" spc="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12121"/>
                </a:solidFill>
                <a:latin typeface="Calibri"/>
                <a:cs typeface="Calibri"/>
              </a:rPr>
              <a:t>timely</a:t>
            </a:r>
            <a:r>
              <a:rPr sz="1100" spc="-1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32323"/>
                </a:solidFill>
                <a:latin typeface="Calibri"/>
                <a:cs typeface="Calibri"/>
              </a:rPr>
              <a:t>predictions</a:t>
            </a:r>
            <a:r>
              <a:rPr sz="1100" spc="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242424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Calibri"/>
                <a:cs typeface="Calibri"/>
              </a:rPr>
              <a:t>enhance</a:t>
            </a:r>
            <a:r>
              <a:rPr sz="1100" spc="5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decision-making</a:t>
            </a:r>
            <a:r>
              <a:rPr sz="11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1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32323"/>
                </a:solidFill>
                <a:latin typeface="Calibri"/>
                <a:cs typeface="Calibri"/>
              </a:rPr>
              <a:t>operational</a:t>
            </a:r>
            <a:r>
              <a:rPr sz="110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efficiency.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1600" y="3260583"/>
            <a:ext cx="2961847" cy="65402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20"/>
              </a:spcBef>
            </a:pPr>
            <a:r>
              <a:rPr sz="1200" b="1" dirty="0">
                <a:solidFill>
                  <a:srgbClr val="212121"/>
                </a:solidFill>
                <a:latin typeface="Calibri"/>
                <a:cs typeface="Calibri"/>
              </a:rPr>
              <a:t>Detecting</a:t>
            </a:r>
            <a:r>
              <a:rPr sz="1200" b="1" spc="1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32323"/>
                </a:solidFill>
                <a:latin typeface="Calibri"/>
                <a:cs typeface="Calibri"/>
              </a:rPr>
              <a:t>Patterns</a:t>
            </a:r>
            <a:endParaRPr sz="1200" b="1" dirty="0">
              <a:latin typeface="Calibri"/>
              <a:cs typeface="Calibri"/>
            </a:endParaRPr>
          </a:p>
          <a:p>
            <a:pPr marR="6985" algn="r">
              <a:lnSpc>
                <a:spcPct val="100000"/>
              </a:lnSpc>
              <a:spcBef>
                <a:spcPts val="395"/>
              </a:spcBef>
            </a:pPr>
            <a:r>
              <a:rPr sz="1100" spc="-30" dirty="0">
                <a:solidFill>
                  <a:srgbClr val="262626"/>
                </a:solidFill>
                <a:latin typeface="Calibri"/>
                <a:cs typeface="Calibri"/>
              </a:rPr>
              <a:t>Efficiently</a:t>
            </a:r>
            <a:r>
              <a:rPr sz="1100" spc="3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32323"/>
                </a:solidFill>
                <a:latin typeface="Calibri"/>
                <a:cs typeface="Calibri"/>
              </a:rPr>
              <a:t>detects</a:t>
            </a:r>
            <a:r>
              <a:rPr sz="1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32323"/>
                </a:solidFill>
                <a:latin typeface="Calibri"/>
                <a:cs typeface="Calibri"/>
              </a:rPr>
              <a:t>intricate</a:t>
            </a:r>
            <a:r>
              <a:rPr sz="1100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42424"/>
                </a:solidFill>
                <a:latin typeface="Calibri"/>
                <a:cs typeface="Calibri"/>
              </a:rPr>
              <a:t>patterns</a:t>
            </a:r>
            <a:r>
              <a:rPr sz="1100" spc="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42424"/>
                </a:solidFill>
                <a:latin typeface="Calibri"/>
                <a:cs typeface="Calibri"/>
              </a:rPr>
              <a:t>that</a:t>
            </a:r>
            <a:r>
              <a:rPr sz="1100" spc="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traditional</a:t>
            </a:r>
            <a:endParaRPr sz="1100" dirty="0">
              <a:latin typeface="Calibri"/>
              <a:cs typeface="Calibri"/>
            </a:endParaRPr>
          </a:p>
          <a:p>
            <a:pPr marR="7620" algn="r">
              <a:lnSpc>
                <a:spcPct val="100000"/>
              </a:lnSpc>
              <a:spcBef>
                <a:spcPts val="120"/>
              </a:spcBef>
            </a:pPr>
            <a:r>
              <a:rPr sz="1100" spc="-35" dirty="0">
                <a:solidFill>
                  <a:srgbClr val="262626"/>
                </a:solidFill>
                <a:latin typeface="Calibri"/>
                <a:cs typeface="Calibri"/>
              </a:rPr>
              <a:t>methods</a:t>
            </a:r>
            <a:r>
              <a:rPr sz="1100" spc="3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42424"/>
                </a:solidFill>
                <a:latin typeface="Calibri"/>
                <a:cs typeface="Calibri"/>
              </a:rPr>
              <a:t>may</a:t>
            </a:r>
            <a:r>
              <a:rPr sz="1100" spc="-2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miss.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68586" y="1413326"/>
            <a:ext cx="2957814" cy="86684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545"/>
              </a:spcBef>
            </a:pPr>
            <a:r>
              <a:rPr lang="en-IN" sz="1200" b="1" spc="-60" dirty="0" smtClean="0">
                <a:solidFill>
                  <a:srgbClr val="242424"/>
                </a:solidFill>
                <a:latin typeface="Calibri"/>
                <a:cs typeface="Calibri"/>
              </a:rPr>
              <a:t>Machine </a:t>
            </a:r>
            <a:r>
              <a:rPr sz="1200" b="1" dirty="0" smtClean="0">
                <a:solidFill>
                  <a:srgbClr val="232323"/>
                </a:solidFill>
                <a:latin typeface="Calibri"/>
                <a:cs typeface="Calibri"/>
              </a:rPr>
              <a:t>Learning</a:t>
            </a:r>
            <a:r>
              <a:rPr sz="1200" b="1" spc="55" dirty="0" smtClean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42424"/>
                </a:solidFill>
                <a:latin typeface="Calibri"/>
                <a:cs typeface="Calibri"/>
              </a:rPr>
              <a:t>Tools</a:t>
            </a:r>
            <a:endParaRPr sz="1200" b="1" dirty="0">
              <a:latin typeface="Calibri"/>
              <a:cs typeface="Calibri"/>
            </a:endParaRPr>
          </a:p>
          <a:p>
            <a:pPr marL="12700" marR="5080" indent="1270">
              <a:lnSpc>
                <a:spcPct val="113300"/>
              </a:lnSpc>
              <a:spcBef>
                <a:spcPts val="275"/>
              </a:spcBef>
            </a:pPr>
            <a:r>
              <a:rPr sz="1100" spc="-25" dirty="0" err="1" smtClean="0">
                <a:solidFill>
                  <a:srgbClr val="232323"/>
                </a:solidFill>
                <a:latin typeface="Calibri"/>
                <a:cs typeface="Calibri"/>
              </a:rPr>
              <a:t>Utiliz</a:t>
            </a:r>
            <a:r>
              <a:rPr lang="en-IN" sz="1100" spc="-25" dirty="0" err="1" smtClean="0">
                <a:solidFill>
                  <a:srgbClr val="232323"/>
                </a:solidFill>
                <a:latin typeface="Calibri"/>
                <a:cs typeface="Calibri"/>
              </a:rPr>
              <a:t>ing</a:t>
            </a:r>
            <a:r>
              <a:rPr sz="1100" spc="-5" dirty="0" smtClean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lang="en-IN" sz="1100" spc="-10" dirty="0" smtClean="0">
                <a:solidFill>
                  <a:srgbClr val="212121"/>
                </a:solidFill>
                <a:latin typeface="Calibri"/>
                <a:cs typeface="Calibri"/>
              </a:rPr>
              <a:t>logistic regression, random forest, gradient boosting and Bayesian statistics </a:t>
            </a:r>
            <a:r>
              <a:rPr lang="en-IN" sz="1100" spc="-10" dirty="0" err="1" smtClean="0">
                <a:solidFill>
                  <a:srgbClr val="212121"/>
                </a:solidFill>
                <a:latin typeface="Calibri"/>
                <a:cs typeface="Calibri"/>
              </a:rPr>
              <a:t>etc</a:t>
            </a:r>
            <a:r>
              <a:rPr lang="en-IN" sz="1100" spc="-10" dirty="0" smtClean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45" dirty="0" smtClean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100" spc="-15" dirty="0" smtClean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32323"/>
                </a:solidFill>
                <a:latin typeface="Calibri"/>
                <a:cs typeface="Calibri"/>
              </a:rPr>
              <a:t>analyzing</a:t>
            </a:r>
            <a:r>
              <a:rPr sz="11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42424"/>
                </a:solidFill>
                <a:latin typeface="Calibri"/>
                <a:cs typeface="Calibri"/>
              </a:rPr>
              <a:t>complex</a:t>
            </a:r>
            <a:r>
              <a:rPr sz="1100" spc="2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10" dirty="0" smtClean="0">
                <a:solidFill>
                  <a:srgbClr val="212121"/>
                </a:solidFill>
                <a:latin typeface="Calibri"/>
                <a:cs typeface="Calibri"/>
              </a:rPr>
              <a:t>datasets</a:t>
            </a:r>
            <a:r>
              <a:rPr lang="en-IN" sz="1100" spc="5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10" dirty="0" smtClean="0">
                <a:solidFill>
                  <a:srgbClr val="232323"/>
                </a:solidFill>
                <a:latin typeface="Calibri"/>
                <a:cs typeface="Calibri"/>
              </a:rPr>
              <a:t>effectively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98959" y="2314575"/>
            <a:ext cx="2529041" cy="67518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200" b="1" spc="-25" dirty="0">
                <a:solidFill>
                  <a:srgbClr val="1F1F1F"/>
                </a:solidFill>
                <a:latin typeface="Calibri"/>
                <a:cs typeface="Calibri"/>
              </a:rPr>
              <a:t>Predicting</a:t>
            </a:r>
            <a:r>
              <a:rPr sz="1200" b="1" spc="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212121"/>
                </a:solidFill>
                <a:latin typeface="Calibri"/>
                <a:cs typeface="Calibri"/>
              </a:rPr>
              <a:t>Flight</a:t>
            </a:r>
            <a:r>
              <a:rPr sz="1200" b="1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12121"/>
                </a:solidFill>
                <a:latin typeface="Calibri"/>
                <a:cs typeface="Calibri"/>
              </a:rPr>
              <a:t>Delays</a:t>
            </a:r>
            <a:endParaRPr sz="1200" b="1" dirty="0">
              <a:latin typeface="Calibri"/>
              <a:cs typeface="Calibri"/>
            </a:endParaRPr>
          </a:p>
          <a:p>
            <a:pPr marL="15240" marR="5080" indent="-1270">
              <a:lnSpc>
                <a:spcPct val="111100"/>
              </a:lnSpc>
              <a:spcBef>
                <a:spcPts val="305"/>
              </a:spcBef>
            </a:pPr>
            <a:r>
              <a:rPr sz="1100" spc="-45" dirty="0">
                <a:solidFill>
                  <a:srgbClr val="212121"/>
                </a:solidFill>
                <a:latin typeface="Calibri"/>
                <a:cs typeface="Calibri"/>
              </a:rPr>
              <a:t>Machine</a:t>
            </a:r>
            <a:r>
              <a:rPr sz="1100" spc="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12121"/>
                </a:solidFill>
                <a:latin typeface="Calibri"/>
                <a:cs typeface="Calibri"/>
              </a:rPr>
              <a:t>learning</a:t>
            </a:r>
            <a:r>
              <a:rPr sz="1100" spc="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62626"/>
                </a:solidFill>
                <a:latin typeface="Calibri"/>
                <a:cs typeface="Calibri"/>
              </a:rPr>
              <a:t>is</a:t>
            </a:r>
            <a:r>
              <a:rPr sz="1100" spc="-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32323"/>
                </a:solidFill>
                <a:latin typeface="Calibri"/>
                <a:cs typeface="Calibri"/>
              </a:rPr>
              <a:t>ideal</a:t>
            </a:r>
            <a:r>
              <a:rPr sz="11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4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1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accurately</a:t>
            </a:r>
            <a:r>
              <a:rPr sz="1100" spc="5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32323"/>
                </a:solidFill>
                <a:latin typeface="Calibri"/>
                <a:cs typeface="Calibri"/>
              </a:rPr>
              <a:t>predicting</a:t>
            </a:r>
            <a:r>
              <a:rPr sz="110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12121"/>
                </a:solidFill>
                <a:latin typeface="Calibri"/>
                <a:cs typeface="Calibri"/>
              </a:rPr>
              <a:t>flight</a:t>
            </a:r>
            <a:r>
              <a:rPr sz="1100" spc="-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delays</a:t>
            </a:r>
            <a:r>
              <a:rPr sz="11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40" dirty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12121"/>
                </a:solidFill>
                <a:latin typeface="Calibri"/>
                <a:cs typeface="Calibri"/>
              </a:rPr>
              <a:t>real-</a:t>
            </a:r>
            <a:r>
              <a:rPr sz="1100" spc="-10" dirty="0">
                <a:solidFill>
                  <a:srgbClr val="212121"/>
                </a:solidFill>
                <a:latin typeface="Calibri"/>
                <a:cs typeface="Calibri"/>
              </a:rPr>
              <a:t>time</a:t>
            </a:r>
            <a:r>
              <a:rPr sz="900" spc="-10" dirty="0">
                <a:solidFill>
                  <a:srgbClr val="212121"/>
                </a:solidFill>
                <a:latin typeface="Calibri"/>
                <a:cs typeface="Calibri"/>
              </a:rPr>
              <a:t>.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69739" y="3269741"/>
            <a:ext cx="2611120" cy="635687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200" b="1" spc="10" dirty="0">
                <a:solidFill>
                  <a:srgbClr val="232323"/>
                </a:solidFill>
                <a:latin typeface="Calibri"/>
                <a:cs typeface="Calibri"/>
              </a:rPr>
              <a:t>Handling</a:t>
            </a:r>
            <a:r>
              <a:rPr sz="1200" b="1" spc="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200" b="1" spc="10" dirty="0">
                <a:solidFill>
                  <a:srgbClr val="232323"/>
                </a:solidFill>
                <a:latin typeface="Calibri"/>
                <a:cs typeface="Calibri"/>
              </a:rPr>
              <a:t>Large</a:t>
            </a:r>
            <a:r>
              <a:rPr sz="1200" b="1" spc="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200" b="1" spc="10" dirty="0">
                <a:solidFill>
                  <a:srgbClr val="262626"/>
                </a:solidFill>
                <a:latin typeface="Calibri"/>
                <a:cs typeface="Calibri"/>
              </a:rPr>
              <a:t>Data</a:t>
            </a:r>
            <a:r>
              <a:rPr sz="1200" b="1" spc="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32323"/>
                </a:solidFill>
                <a:latin typeface="Calibri"/>
                <a:cs typeface="Calibri"/>
              </a:rPr>
              <a:t>Volumes</a:t>
            </a:r>
            <a:endParaRPr sz="1200" b="1" dirty="0">
              <a:latin typeface="Calibri"/>
              <a:cs typeface="Calibri"/>
            </a:endParaRPr>
          </a:p>
          <a:p>
            <a:pPr marL="14604" marR="5080" indent="-1270">
              <a:lnSpc>
                <a:spcPct val="105300"/>
              </a:lnSpc>
              <a:spcBef>
                <a:spcPts val="290"/>
              </a:spcBef>
            </a:pPr>
            <a:r>
              <a:rPr sz="1100" spc="-45" dirty="0">
                <a:solidFill>
                  <a:srgbClr val="242424"/>
                </a:solidFill>
                <a:latin typeface="Calibri"/>
                <a:cs typeface="Calibri"/>
              </a:rPr>
              <a:t>Capable</a:t>
            </a:r>
            <a:r>
              <a:rPr sz="1100" spc="3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75" dirty="0">
                <a:solidFill>
                  <a:srgbClr val="242424"/>
                </a:solidFill>
                <a:latin typeface="Calibri"/>
                <a:cs typeface="Calibri"/>
              </a:rPr>
              <a:t>of</a:t>
            </a:r>
            <a:r>
              <a:rPr sz="1100" spc="1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32323"/>
                </a:solidFill>
                <a:latin typeface="Calibri"/>
                <a:cs typeface="Calibri"/>
              </a:rPr>
              <a:t>processing</a:t>
            </a:r>
            <a:r>
              <a:rPr sz="11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1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32323"/>
                </a:solidFill>
                <a:latin typeface="Calibri"/>
                <a:cs typeface="Calibri"/>
              </a:rPr>
              <a:t>analyzing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32323"/>
                </a:solidFill>
                <a:latin typeface="Calibri"/>
                <a:cs typeface="Calibri"/>
              </a:rPr>
              <a:t>large</a:t>
            </a:r>
            <a:r>
              <a:rPr sz="11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60" dirty="0">
                <a:solidFill>
                  <a:srgbClr val="232323"/>
                </a:solidFill>
                <a:latin typeface="Calibri"/>
                <a:cs typeface="Calibri"/>
              </a:rPr>
              <a:t>volumes</a:t>
            </a:r>
            <a:r>
              <a:rPr sz="110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90" dirty="0">
                <a:solidFill>
                  <a:srgbClr val="262626"/>
                </a:solidFill>
                <a:latin typeface="Calibri"/>
                <a:cs typeface="Calibri"/>
              </a:rPr>
              <a:t>of</a:t>
            </a:r>
            <a:r>
              <a:rPr sz="1100" spc="1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42424"/>
                </a:solidFill>
                <a:latin typeface="Calibri"/>
                <a:cs typeface="Calibri"/>
              </a:rPr>
              <a:t>data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swiftly.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0"/>
            <a:ext cx="8102600" cy="3276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1280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100" b="0" dirty="0" smtClean="0">
                <a:solidFill>
                  <a:srgbClr val="1F2831"/>
                </a:solidFill>
                <a:latin typeface="+mn-lt"/>
                <a:cs typeface="Arial"/>
              </a:rPr>
              <a:t>Literature</a:t>
            </a:r>
            <a:r>
              <a:rPr lang="en-IN" sz="2100" b="0" spc="130" dirty="0" smtClean="0">
                <a:solidFill>
                  <a:srgbClr val="1F2831"/>
                </a:solidFill>
                <a:latin typeface="+mn-lt"/>
                <a:cs typeface="Arial"/>
              </a:rPr>
              <a:t> </a:t>
            </a:r>
            <a:r>
              <a:rPr lang="en-IN" sz="2100" b="0" dirty="0" smtClean="0">
                <a:solidFill>
                  <a:srgbClr val="1F2831"/>
                </a:solidFill>
                <a:latin typeface="+mn-lt"/>
                <a:cs typeface="Arial"/>
              </a:rPr>
              <a:t>Review</a:t>
            </a:r>
            <a:r>
              <a:rPr lang="en-IN" sz="2100" b="0" spc="125" dirty="0" smtClean="0">
                <a:solidFill>
                  <a:srgbClr val="1F2831"/>
                </a:solidFill>
                <a:latin typeface="+mn-lt"/>
                <a:cs typeface="Arial"/>
              </a:rPr>
              <a:t> </a:t>
            </a:r>
            <a:r>
              <a:rPr lang="en-IN" sz="2100" b="0" dirty="0" smtClean="0">
                <a:solidFill>
                  <a:srgbClr val="1F2831"/>
                </a:solidFill>
                <a:latin typeface="+mn-lt"/>
                <a:cs typeface="Arial"/>
              </a:rPr>
              <a:t>on</a:t>
            </a:r>
            <a:r>
              <a:rPr lang="en-IN" sz="2100" b="0" spc="40" dirty="0" smtClean="0">
                <a:solidFill>
                  <a:srgbClr val="1F2831"/>
                </a:solidFill>
                <a:latin typeface="+mn-lt"/>
                <a:cs typeface="Arial"/>
              </a:rPr>
              <a:t> </a:t>
            </a:r>
            <a:r>
              <a:rPr lang="en-IN" sz="2100" b="0" dirty="0" smtClean="0">
                <a:solidFill>
                  <a:srgbClr val="1F2831"/>
                </a:solidFill>
                <a:latin typeface="+mn-lt"/>
                <a:cs typeface="Arial"/>
              </a:rPr>
              <a:t>Machine</a:t>
            </a:r>
            <a:r>
              <a:rPr lang="en-IN" sz="2100" b="0" spc="120" dirty="0" smtClean="0">
                <a:solidFill>
                  <a:srgbClr val="1F2831"/>
                </a:solidFill>
                <a:latin typeface="+mn-lt"/>
                <a:cs typeface="Arial"/>
              </a:rPr>
              <a:t> </a:t>
            </a:r>
            <a:r>
              <a:rPr lang="en-IN" sz="2100" b="0" dirty="0" smtClean="0">
                <a:solidFill>
                  <a:srgbClr val="1F2831"/>
                </a:solidFill>
                <a:latin typeface="+mn-lt"/>
                <a:cs typeface="Arial"/>
              </a:rPr>
              <a:t>Learning</a:t>
            </a:r>
            <a:r>
              <a:rPr lang="en-IN" sz="2100" b="0" spc="-25" dirty="0" smtClean="0">
                <a:solidFill>
                  <a:srgbClr val="1F2831"/>
                </a:solidFill>
                <a:latin typeface="+mn-lt"/>
                <a:cs typeface="Arial"/>
              </a:rPr>
              <a:t> in </a:t>
            </a:r>
            <a:r>
              <a:rPr lang="en-IN" sz="2100" b="0" spc="-10" dirty="0" smtClean="0">
                <a:solidFill>
                  <a:srgbClr val="1F2831"/>
                </a:solidFill>
                <a:latin typeface="+mn-lt"/>
                <a:cs typeface="Arial"/>
              </a:rPr>
              <a:t>Aviation</a:t>
            </a:r>
            <a:endParaRPr lang="en-IN" sz="210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1600" y="357664"/>
            <a:ext cx="4064000" cy="7925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050" dirty="0" smtClean="0">
                <a:solidFill>
                  <a:srgbClr val="57606D"/>
                </a:solidFill>
                <a:latin typeface="+mn-lt"/>
                <a:cs typeface="Arial"/>
              </a:rPr>
              <a:t>Exploring</a:t>
            </a:r>
            <a:r>
              <a:rPr lang="en-IN" sz="1050" spc="-35" dirty="0" smtClean="0">
                <a:solidFill>
                  <a:srgbClr val="57606D"/>
                </a:solidFill>
                <a:latin typeface="+mn-lt"/>
                <a:cs typeface="Arial"/>
              </a:rPr>
              <a:t> </a:t>
            </a:r>
            <a:r>
              <a:rPr lang="en-IN" sz="1050" dirty="0" smtClean="0">
                <a:solidFill>
                  <a:srgbClr val="57606D"/>
                </a:solidFill>
                <a:latin typeface="+mn-lt"/>
                <a:cs typeface="Arial"/>
              </a:rPr>
              <a:t>Machine</a:t>
            </a:r>
            <a:r>
              <a:rPr lang="en-IN" sz="1050" spc="30" dirty="0" smtClean="0">
                <a:solidFill>
                  <a:srgbClr val="57606D"/>
                </a:solidFill>
                <a:latin typeface="+mn-lt"/>
                <a:cs typeface="Arial"/>
              </a:rPr>
              <a:t> </a:t>
            </a:r>
            <a:r>
              <a:rPr lang="en-IN" sz="1050" dirty="0" smtClean="0">
                <a:solidFill>
                  <a:srgbClr val="57606D"/>
                </a:solidFill>
                <a:latin typeface="+mn-lt"/>
                <a:cs typeface="Arial"/>
              </a:rPr>
              <a:t>Learning</a:t>
            </a:r>
            <a:r>
              <a:rPr lang="en-IN" sz="1050" spc="60" dirty="0" smtClean="0">
                <a:solidFill>
                  <a:srgbClr val="57606D"/>
                </a:solidFill>
                <a:latin typeface="+mn-lt"/>
                <a:cs typeface="Arial"/>
              </a:rPr>
              <a:t> </a:t>
            </a:r>
            <a:r>
              <a:rPr lang="en-IN" sz="1050" dirty="0" smtClean="0">
                <a:solidFill>
                  <a:srgbClr val="57606D"/>
                </a:solidFill>
                <a:latin typeface="+mn-lt"/>
                <a:cs typeface="Arial"/>
              </a:rPr>
              <a:t>for</a:t>
            </a:r>
            <a:r>
              <a:rPr lang="en-IN" sz="1050" spc="-15" dirty="0" smtClean="0">
                <a:solidFill>
                  <a:srgbClr val="57606D"/>
                </a:solidFill>
                <a:latin typeface="+mn-lt"/>
                <a:cs typeface="Arial"/>
              </a:rPr>
              <a:t> </a:t>
            </a:r>
            <a:r>
              <a:rPr lang="en-IN" sz="1050" dirty="0" smtClean="0">
                <a:solidFill>
                  <a:srgbClr val="57606D"/>
                </a:solidFill>
                <a:latin typeface="+mn-lt"/>
                <a:cs typeface="Arial"/>
              </a:rPr>
              <a:t>Flight</a:t>
            </a:r>
            <a:r>
              <a:rPr lang="en-IN" sz="1050" spc="45" dirty="0" smtClean="0">
                <a:solidFill>
                  <a:srgbClr val="57606D"/>
                </a:solidFill>
                <a:latin typeface="+mn-lt"/>
                <a:cs typeface="Arial"/>
              </a:rPr>
              <a:t> </a:t>
            </a:r>
            <a:r>
              <a:rPr lang="en-IN" sz="1050" dirty="0" smtClean="0">
                <a:solidFill>
                  <a:srgbClr val="57606D"/>
                </a:solidFill>
                <a:latin typeface="+mn-lt"/>
                <a:cs typeface="Arial"/>
              </a:rPr>
              <a:t>Delay</a:t>
            </a:r>
            <a:r>
              <a:rPr lang="en-IN" sz="1050" spc="25" dirty="0" smtClean="0">
                <a:solidFill>
                  <a:srgbClr val="57606D"/>
                </a:solidFill>
                <a:latin typeface="+mn-lt"/>
                <a:cs typeface="Arial"/>
              </a:rPr>
              <a:t> </a:t>
            </a:r>
            <a:r>
              <a:rPr lang="en-IN" sz="1050" spc="-10" dirty="0" smtClean="0">
                <a:solidFill>
                  <a:srgbClr val="57606D"/>
                </a:solidFill>
                <a:latin typeface="+mn-lt"/>
                <a:cs typeface="Arial"/>
              </a:rPr>
              <a:t>Prediction via: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IN" sz="1050" spc="-10" dirty="0" smtClean="0">
              <a:solidFill>
                <a:srgbClr val="57606D"/>
              </a:solidFill>
              <a:latin typeface="+mn-lt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IN" sz="1100" dirty="0" smtClean="0">
                <a:latin typeface="+mn-lt"/>
                <a:cs typeface="Arial"/>
              </a:rPr>
              <a:t>Think Bayes: Bayesian Statistics in Python</a:t>
            </a:r>
          </a:p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ü"/>
            </a:pPr>
            <a:r>
              <a:rPr lang="en-IN" sz="1100" dirty="0" smtClean="0">
                <a:latin typeface="+mn-lt"/>
                <a:cs typeface="Arial"/>
              </a:rPr>
              <a:t>Various published papers</a:t>
            </a:r>
            <a:endParaRPr lang="en-IN" sz="1100" dirty="0"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941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5" y="0"/>
            <a:ext cx="7127875" cy="4567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6108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069975"/>
            <a:ext cx="6769100" cy="243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752475"/>
            <a:ext cx="676275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573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100" spc="-65" dirty="0">
                <a:solidFill>
                  <a:srgbClr val="242424"/>
                </a:solidFill>
              </a:rPr>
              <a:t>Data</a:t>
            </a:r>
            <a:r>
              <a:rPr sz="2100" spc="-135" dirty="0">
                <a:solidFill>
                  <a:srgbClr val="242424"/>
                </a:solidFill>
              </a:rPr>
              <a:t> </a:t>
            </a:r>
            <a:r>
              <a:rPr sz="2100" spc="-85" dirty="0"/>
              <a:t>Collection</a:t>
            </a:r>
            <a:r>
              <a:rPr sz="2100" spc="35" dirty="0"/>
              <a:t> </a:t>
            </a:r>
            <a:r>
              <a:rPr sz="2100" spc="-135" dirty="0">
                <a:solidFill>
                  <a:srgbClr val="242424"/>
                </a:solidFill>
              </a:rPr>
              <a:t>for</a:t>
            </a:r>
            <a:r>
              <a:rPr sz="2100" spc="-85" dirty="0">
                <a:solidFill>
                  <a:srgbClr val="242424"/>
                </a:solidFill>
              </a:rPr>
              <a:t> </a:t>
            </a:r>
            <a:r>
              <a:rPr sz="2100" spc="-70" dirty="0">
                <a:solidFill>
                  <a:srgbClr val="242424"/>
                </a:solidFill>
              </a:rPr>
              <a:t>Flight</a:t>
            </a:r>
            <a:r>
              <a:rPr sz="2100" spc="-20" dirty="0">
                <a:solidFill>
                  <a:srgbClr val="242424"/>
                </a:solidFill>
              </a:rPr>
              <a:t> </a:t>
            </a:r>
            <a:r>
              <a:rPr sz="2100" spc="-100" dirty="0">
                <a:solidFill>
                  <a:srgbClr val="262626"/>
                </a:solidFill>
              </a:rPr>
              <a:t>Delay</a:t>
            </a:r>
            <a:r>
              <a:rPr sz="2100" spc="-20" dirty="0">
                <a:solidFill>
                  <a:srgbClr val="262626"/>
                </a:solidFill>
              </a:rPr>
              <a:t> </a:t>
            </a:r>
            <a:r>
              <a:rPr sz="2100" spc="-65" dirty="0">
                <a:solidFill>
                  <a:srgbClr val="242424"/>
                </a:solidFill>
              </a:rPr>
              <a:t>Prediction</a:t>
            </a:r>
            <a:endParaRPr sz="2100" dirty="0"/>
          </a:p>
          <a:p>
            <a:pPr marL="13335">
              <a:lnSpc>
                <a:spcPct val="100000"/>
              </a:lnSpc>
              <a:spcBef>
                <a:spcPts val="359"/>
              </a:spcBef>
            </a:pPr>
            <a:r>
              <a:rPr sz="950" spc="-25" dirty="0">
                <a:solidFill>
                  <a:srgbClr val="5B5B5B"/>
                </a:solidFill>
                <a:latin typeface="Arial MT"/>
                <a:cs typeface="Arial MT"/>
              </a:rPr>
              <a:t>Understanding</a:t>
            </a:r>
            <a:r>
              <a:rPr sz="950" spc="-4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5D5D5D"/>
                </a:solidFill>
                <a:latin typeface="Arial MT"/>
                <a:cs typeface="Arial MT"/>
              </a:rPr>
              <a:t>the</a:t>
            </a:r>
            <a:r>
              <a:rPr sz="950" spc="-85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5B5B5B"/>
                </a:solidFill>
                <a:latin typeface="Arial MT"/>
                <a:cs typeface="Arial MT"/>
              </a:rPr>
              <a:t>Importance</a:t>
            </a:r>
            <a:r>
              <a:rPr sz="950" spc="2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5B5B5B"/>
                </a:solidFill>
                <a:latin typeface="Arial MT"/>
                <a:cs typeface="Arial MT"/>
              </a:rPr>
              <a:t>of </a:t>
            </a:r>
            <a:r>
              <a:rPr sz="950" spc="-40" dirty="0">
                <a:solidFill>
                  <a:srgbClr val="5B5B5B"/>
                </a:solidFill>
                <a:latin typeface="Arial MT"/>
                <a:cs typeface="Arial MT"/>
              </a:rPr>
              <a:t>Data</a:t>
            </a:r>
            <a:r>
              <a:rPr sz="950" spc="-2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5D5D5D"/>
                </a:solidFill>
                <a:latin typeface="Arial MT"/>
                <a:cs typeface="Arial MT"/>
              </a:rPr>
              <a:t>in</a:t>
            </a:r>
            <a:r>
              <a:rPr sz="950" spc="-50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950" spc="-20" dirty="0">
                <a:solidFill>
                  <a:srgbClr val="5B5B5B"/>
                </a:solidFill>
                <a:latin typeface="Arial MT"/>
                <a:cs typeface="Arial MT"/>
              </a:rPr>
              <a:t>Predictive</a:t>
            </a:r>
            <a:r>
              <a:rPr sz="950" spc="4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5B5B5B"/>
                </a:solidFill>
                <a:latin typeface="Arial MT"/>
                <a:cs typeface="Arial MT"/>
              </a:rPr>
              <a:t>Models</a:t>
            </a:r>
            <a:endParaRPr sz="9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8094" y="1229105"/>
            <a:ext cx="208915" cy="25647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136400"/>
              </a:lnSpc>
              <a:spcBef>
                <a:spcPts val="120"/>
              </a:spcBef>
            </a:pPr>
            <a:r>
              <a:rPr sz="3050" spc="-114" dirty="0">
                <a:solidFill>
                  <a:srgbClr val="03C39A"/>
                </a:solidFill>
                <a:latin typeface="Calibri"/>
                <a:cs typeface="Calibri"/>
              </a:rPr>
              <a:t>e e e e</a:t>
            </a:r>
            <a:endParaRPr sz="30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3511" y="1462263"/>
            <a:ext cx="4085590" cy="67197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520"/>
              </a:spcBef>
            </a:pPr>
            <a:r>
              <a:rPr sz="1400" b="1" spc="10" dirty="0">
                <a:solidFill>
                  <a:srgbClr val="232323"/>
                </a:solidFill>
                <a:latin typeface="Calibri"/>
                <a:cs typeface="Calibri"/>
              </a:rPr>
              <a:t>Crucial</a:t>
            </a:r>
            <a:r>
              <a:rPr sz="1400" b="1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242424"/>
                </a:solidFill>
                <a:latin typeface="Calibri"/>
                <a:cs typeface="Calibri"/>
              </a:rPr>
              <a:t>Role</a:t>
            </a:r>
            <a:r>
              <a:rPr sz="1400" b="1" spc="5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262626"/>
                </a:solidFill>
                <a:latin typeface="Calibri"/>
                <a:cs typeface="Calibri"/>
              </a:rPr>
              <a:t>of</a:t>
            </a:r>
            <a:r>
              <a:rPr sz="1400" b="1" spc="9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242424"/>
                </a:solidFill>
                <a:latin typeface="Calibri"/>
                <a:cs typeface="Calibri"/>
              </a:rPr>
              <a:t>Data</a:t>
            </a:r>
            <a:r>
              <a:rPr sz="1400" b="1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62626"/>
                </a:solidFill>
                <a:latin typeface="Calibri"/>
                <a:cs typeface="Calibri"/>
              </a:rPr>
              <a:t>Collection</a:t>
            </a:r>
            <a:endParaRPr sz="14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100" spc="-20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11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32323"/>
                </a:solidFill>
                <a:latin typeface="Calibri"/>
                <a:cs typeface="Calibri"/>
              </a:rPr>
              <a:t>collection</a:t>
            </a:r>
            <a:r>
              <a:rPr sz="1100" spc="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62626"/>
                </a:solidFill>
                <a:latin typeface="Calibri"/>
                <a:cs typeface="Calibri"/>
              </a:rPr>
              <a:t>is</a:t>
            </a:r>
            <a:r>
              <a:rPr sz="1100" spc="-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crucial</a:t>
            </a: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40" dirty="0">
                <a:solidFill>
                  <a:srgbClr val="262626"/>
                </a:solidFill>
                <a:latin typeface="Calibri"/>
                <a:cs typeface="Calibri"/>
              </a:rPr>
              <a:t>for</a:t>
            </a:r>
            <a:r>
              <a:rPr sz="1100" spc="-3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32323"/>
                </a:solidFill>
                <a:latin typeface="Calibri"/>
                <a:cs typeface="Calibri"/>
              </a:rPr>
              <a:t>accurate</a:t>
            </a:r>
            <a:r>
              <a:rPr sz="11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42424"/>
                </a:solidFill>
                <a:latin typeface="Calibri"/>
                <a:cs typeface="Calibri"/>
              </a:rPr>
              <a:t>predictions,</a:t>
            </a:r>
            <a:r>
              <a:rPr sz="1100" spc="7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40" dirty="0">
                <a:solidFill>
                  <a:srgbClr val="262626"/>
                </a:solidFill>
                <a:latin typeface="Calibri"/>
                <a:cs typeface="Calibri"/>
              </a:rPr>
              <a:t>forming</a:t>
            </a:r>
            <a:r>
              <a:rPr sz="1100" spc="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1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62626"/>
                </a:solidFill>
                <a:latin typeface="Calibri"/>
                <a:cs typeface="Calibri"/>
              </a:rPr>
              <a:t>foundation</a:t>
            </a:r>
            <a:r>
              <a:rPr sz="1100" spc="5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42424"/>
                </a:solidFill>
                <a:latin typeface="Calibri"/>
                <a:cs typeface="Calibri"/>
              </a:rPr>
              <a:t>of</a:t>
            </a:r>
            <a:r>
              <a:rPr sz="1100" spc="-3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reliable</a:t>
            </a:r>
            <a:r>
              <a:rPr sz="11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models</a:t>
            </a:r>
            <a:r>
              <a:rPr sz="1050" spc="-10" dirty="0">
                <a:solidFill>
                  <a:srgbClr val="232323"/>
                </a:solidFill>
                <a:latin typeface="Calibri"/>
                <a:cs typeface="Calibri"/>
              </a:rPr>
              <a:t>.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0463" y="2086765"/>
            <a:ext cx="4847590" cy="678391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570"/>
              </a:spcBef>
            </a:pPr>
            <a:r>
              <a:rPr sz="1400" b="1" spc="10" dirty="0">
                <a:solidFill>
                  <a:srgbClr val="262626"/>
                </a:solidFill>
                <a:latin typeface="Calibri"/>
                <a:cs typeface="Calibri"/>
              </a:rPr>
              <a:t>Types</a:t>
            </a:r>
            <a:r>
              <a:rPr sz="1400" b="1" spc="3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262626"/>
                </a:solidFill>
                <a:latin typeface="Calibri"/>
                <a:cs typeface="Calibri"/>
              </a:rPr>
              <a:t>of</a:t>
            </a:r>
            <a:r>
              <a:rPr sz="1400" b="1" spc="6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1400" b="1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endParaRPr sz="14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Involves</a:t>
            </a:r>
            <a:r>
              <a:rPr sz="11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42424"/>
                </a:solidFill>
                <a:latin typeface="Calibri"/>
                <a:cs typeface="Calibri"/>
              </a:rPr>
              <a:t>gathering</a:t>
            </a:r>
            <a:r>
              <a:rPr sz="1100" spc="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42424"/>
                </a:solidFill>
                <a:latin typeface="Calibri"/>
                <a:cs typeface="Calibri"/>
              </a:rPr>
              <a:t>historical </a:t>
            </a:r>
            <a:r>
              <a:rPr sz="1100" spc="-30" dirty="0">
                <a:solidFill>
                  <a:srgbClr val="242424"/>
                </a:solidFill>
                <a:latin typeface="Calibri"/>
                <a:cs typeface="Calibri"/>
              </a:rPr>
              <a:t>flight</a:t>
            </a:r>
            <a:r>
              <a:rPr sz="1100" spc="-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42424"/>
                </a:solidFill>
                <a:latin typeface="Calibri"/>
                <a:cs typeface="Calibri"/>
              </a:rPr>
              <a:t>data,</a:t>
            </a:r>
            <a:r>
              <a:rPr sz="110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1F1F1F"/>
                </a:solidFill>
                <a:latin typeface="Calibri"/>
                <a:cs typeface="Calibri"/>
              </a:rPr>
              <a:t>weather</a:t>
            </a:r>
            <a:r>
              <a:rPr sz="1100" spc="4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32323"/>
                </a:solidFill>
                <a:latin typeface="Calibri"/>
                <a:cs typeface="Calibri"/>
              </a:rPr>
              <a:t>conditions,</a:t>
            </a:r>
            <a:r>
              <a:rPr sz="110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air</a:t>
            </a:r>
            <a:r>
              <a:rPr sz="1100" spc="-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12121"/>
                </a:solidFill>
                <a:latin typeface="Calibri"/>
                <a:cs typeface="Calibri"/>
              </a:rPr>
              <a:t>traffic</a:t>
            </a:r>
            <a:r>
              <a:rPr sz="1100" spc="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40" dirty="0">
                <a:solidFill>
                  <a:srgbClr val="212121"/>
                </a:solidFill>
                <a:latin typeface="Calibri"/>
                <a:cs typeface="Calibri"/>
              </a:rPr>
              <a:t>information,</a:t>
            </a:r>
            <a:r>
              <a:rPr sz="1100" spc="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62626"/>
                </a:solidFill>
                <a:latin typeface="Calibri"/>
                <a:cs typeface="Calibri"/>
              </a:rPr>
              <a:t>and</a:t>
            </a:r>
            <a:r>
              <a:rPr sz="1100" spc="-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32323"/>
                </a:solidFill>
                <a:latin typeface="Calibri"/>
                <a:cs typeface="Calibri"/>
              </a:rPr>
              <a:t>other</a:t>
            </a:r>
            <a:r>
              <a:rPr sz="11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32323"/>
                </a:solidFill>
                <a:latin typeface="Calibri"/>
                <a:cs typeface="Calibri"/>
              </a:rPr>
              <a:t>relevant</a:t>
            </a:r>
            <a:r>
              <a:rPr sz="11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factors.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4927" y="2710878"/>
            <a:ext cx="5313680" cy="70724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400" b="1" spc="-10" dirty="0">
                <a:solidFill>
                  <a:srgbClr val="232323"/>
                </a:solidFill>
                <a:latin typeface="+mn-lt"/>
                <a:cs typeface="Arial MT"/>
              </a:rPr>
              <a:t>Source</a:t>
            </a:r>
            <a:r>
              <a:rPr sz="1400" b="1" spc="-5" dirty="0">
                <a:solidFill>
                  <a:srgbClr val="232323"/>
                </a:solidFill>
                <a:latin typeface="+mn-lt"/>
                <a:cs typeface="Arial MT"/>
              </a:rPr>
              <a:t> </a:t>
            </a:r>
            <a:r>
              <a:rPr sz="1400" b="1" dirty="0">
                <a:solidFill>
                  <a:srgbClr val="262626"/>
                </a:solidFill>
                <a:latin typeface="+mn-lt"/>
                <a:cs typeface="Arial MT"/>
              </a:rPr>
              <a:t>of</a:t>
            </a:r>
            <a:r>
              <a:rPr sz="1400" b="1" spc="-50" dirty="0">
                <a:solidFill>
                  <a:srgbClr val="262626"/>
                </a:solidFill>
                <a:latin typeface="+mn-lt"/>
                <a:cs typeface="Arial MT"/>
              </a:rPr>
              <a:t> </a:t>
            </a:r>
            <a:r>
              <a:rPr sz="1400" b="1" spc="-10" dirty="0">
                <a:solidFill>
                  <a:srgbClr val="232323"/>
                </a:solidFill>
                <a:latin typeface="+mn-lt"/>
                <a:cs typeface="Arial MT"/>
              </a:rPr>
              <a:t>Datasets</a:t>
            </a:r>
            <a:endParaRPr sz="1400" b="1" dirty="0">
              <a:latin typeface="+mn-l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100" spc="-20" dirty="0">
                <a:solidFill>
                  <a:srgbClr val="212121"/>
                </a:solidFill>
                <a:latin typeface="+mn-lt"/>
                <a:cs typeface="Arial MT"/>
              </a:rPr>
              <a:t>Datasets</a:t>
            </a:r>
            <a:r>
              <a:rPr sz="1100" spc="-5" dirty="0">
                <a:solidFill>
                  <a:srgbClr val="212121"/>
                </a:solidFill>
                <a:latin typeface="+mn-lt"/>
                <a:cs typeface="Arial MT"/>
              </a:rPr>
              <a:t> </a:t>
            </a:r>
            <a:r>
              <a:rPr sz="1100" dirty="0">
                <a:solidFill>
                  <a:srgbClr val="232323"/>
                </a:solidFill>
                <a:latin typeface="+mn-lt"/>
                <a:cs typeface="Arial MT"/>
              </a:rPr>
              <a:t>from</a:t>
            </a:r>
            <a:r>
              <a:rPr sz="1100" spc="-35" dirty="0">
                <a:solidFill>
                  <a:srgbClr val="232323"/>
                </a:solidFill>
                <a:latin typeface="+mn-lt"/>
                <a:cs typeface="Arial MT"/>
              </a:rPr>
              <a:t> </a:t>
            </a:r>
            <a:r>
              <a:rPr sz="1100" spc="-20" dirty="0">
                <a:solidFill>
                  <a:srgbClr val="232323"/>
                </a:solidFill>
                <a:latin typeface="+mn-lt"/>
                <a:cs typeface="Arial MT"/>
              </a:rPr>
              <a:t>sources</a:t>
            </a:r>
            <a:r>
              <a:rPr sz="1100" dirty="0">
                <a:solidFill>
                  <a:srgbClr val="232323"/>
                </a:solidFill>
                <a:latin typeface="+mn-lt"/>
                <a:cs typeface="Arial MT"/>
              </a:rPr>
              <a:t> </a:t>
            </a:r>
            <a:r>
              <a:rPr sz="1100" dirty="0">
                <a:solidFill>
                  <a:srgbClr val="242424"/>
                </a:solidFill>
                <a:latin typeface="+mn-lt"/>
                <a:cs typeface="Arial MT"/>
              </a:rPr>
              <a:t>like</a:t>
            </a:r>
            <a:r>
              <a:rPr sz="1100" spc="-20" dirty="0">
                <a:solidFill>
                  <a:srgbClr val="242424"/>
                </a:solidFill>
                <a:latin typeface="+mn-lt"/>
                <a:cs typeface="Arial MT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+mn-lt"/>
                <a:cs typeface="Arial MT"/>
              </a:rPr>
              <a:t>the</a:t>
            </a:r>
            <a:r>
              <a:rPr sz="1100" spc="-30" dirty="0">
                <a:solidFill>
                  <a:srgbClr val="242424"/>
                </a:solidFill>
                <a:latin typeface="+mn-lt"/>
                <a:cs typeface="Arial MT"/>
              </a:rPr>
              <a:t> </a:t>
            </a:r>
            <a:r>
              <a:rPr sz="1100" spc="-20" dirty="0">
                <a:solidFill>
                  <a:srgbClr val="232323"/>
                </a:solidFill>
                <a:latin typeface="+mn-lt"/>
                <a:cs typeface="Arial MT"/>
              </a:rPr>
              <a:t>Bureau</a:t>
            </a:r>
            <a:r>
              <a:rPr sz="1100" spc="10" dirty="0">
                <a:solidFill>
                  <a:srgbClr val="232323"/>
                </a:solidFill>
                <a:latin typeface="+mn-lt"/>
                <a:cs typeface="Arial MT"/>
              </a:rPr>
              <a:t> </a:t>
            </a:r>
            <a:r>
              <a:rPr sz="1100" dirty="0">
                <a:solidFill>
                  <a:srgbClr val="262626"/>
                </a:solidFill>
                <a:latin typeface="+mn-lt"/>
                <a:cs typeface="Arial MT"/>
              </a:rPr>
              <a:t>of </a:t>
            </a:r>
            <a:r>
              <a:rPr sz="1100" spc="-10" dirty="0">
                <a:solidFill>
                  <a:srgbClr val="232323"/>
                </a:solidFill>
                <a:latin typeface="+mn-lt"/>
                <a:cs typeface="Arial MT"/>
              </a:rPr>
              <a:t>Transportation</a:t>
            </a:r>
            <a:r>
              <a:rPr sz="1100" spc="-45" dirty="0">
                <a:solidFill>
                  <a:srgbClr val="232323"/>
                </a:solidFill>
                <a:latin typeface="+mn-lt"/>
                <a:cs typeface="Arial MT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+mn-lt"/>
                <a:cs typeface="Arial MT"/>
              </a:rPr>
              <a:t>Statistics</a:t>
            </a:r>
            <a:r>
              <a:rPr sz="1100" spc="20" dirty="0">
                <a:solidFill>
                  <a:srgbClr val="242424"/>
                </a:solidFill>
                <a:latin typeface="+mn-lt"/>
                <a:cs typeface="Arial MT"/>
              </a:rPr>
              <a:t> </a:t>
            </a:r>
            <a:r>
              <a:rPr sz="1100" spc="-20" dirty="0">
                <a:solidFill>
                  <a:srgbClr val="242424"/>
                </a:solidFill>
                <a:latin typeface="+mn-lt"/>
                <a:cs typeface="Arial MT"/>
              </a:rPr>
              <a:t>and</a:t>
            </a:r>
            <a:r>
              <a:rPr sz="1100" dirty="0">
                <a:solidFill>
                  <a:srgbClr val="242424"/>
                </a:solidFill>
                <a:latin typeface="+mn-lt"/>
                <a:cs typeface="Arial MT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+mn-lt"/>
                <a:cs typeface="Arial MT"/>
              </a:rPr>
              <a:t>weather</a:t>
            </a:r>
            <a:r>
              <a:rPr sz="1100" dirty="0">
                <a:solidFill>
                  <a:srgbClr val="242424"/>
                </a:solidFill>
                <a:latin typeface="+mn-lt"/>
                <a:cs typeface="Arial MT"/>
              </a:rPr>
              <a:t> </a:t>
            </a:r>
            <a:r>
              <a:rPr sz="1100" spc="-20" dirty="0">
                <a:solidFill>
                  <a:srgbClr val="232323"/>
                </a:solidFill>
                <a:latin typeface="+mn-lt"/>
                <a:cs typeface="Arial MT"/>
              </a:rPr>
              <a:t>agencies</a:t>
            </a:r>
            <a:r>
              <a:rPr sz="1100" spc="35" dirty="0">
                <a:solidFill>
                  <a:srgbClr val="232323"/>
                </a:solidFill>
                <a:latin typeface="+mn-lt"/>
                <a:cs typeface="Arial MT"/>
              </a:rPr>
              <a:t> </a:t>
            </a:r>
            <a:r>
              <a:rPr sz="1100" spc="-20" dirty="0">
                <a:solidFill>
                  <a:srgbClr val="232323"/>
                </a:solidFill>
                <a:latin typeface="+mn-lt"/>
                <a:cs typeface="Arial MT"/>
              </a:rPr>
              <a:t>provide</a:t>
            </a:r>
            <a:r>
              <a:rPr sz="1100" dirty="0">
                <a:solidFill>
                  <a:srgbClr val="232323"/>
                </a:solidFill>
                <a:latin typeface="+mn-lt"/>
                <a:cs typeface="Arial MT"/>
              </a:rPr>
              <a:t> </a:t>
            </a:r>
            <a:r>
              <a:rPr sz="1100" spc="-20" dirty="0">
                <a:solidFill>
                  <a:srgbClr val="262626"/>
                </a:solidFill>
                <a:latin typeface="+mn-lt"/>
                <a:cs typeface="Arial MT"/>
              </a:rPr>
              <a:t>necessary</a:t>
            </a:r>
            <a:r>
              <a:rPr sz="1100" spc="-10" dirty="0">
                <a:solidFill>
                  <a:srgbClr val="262626"/>
                </a:solidFill>
                <a:latin typeface="+mn-lt"/>
                <a:cs typeface="Arial MT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+mn-lt"/>
                <a:cs typeface="Arial MT"/>
              </a:rPr>
              <a:t>information.</a:t>
            </a:r>
            <a:endParaRPr sz="1100" dirty="0">
              <a:latin typeface="+mn-l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2978" y="3350573"/>
            <a:ext cx="5315629" cy="113428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400" b="1" spc="10" dirty="0">
                <a:solidFill>
                  <a:srgbClr val="242424"/>
                </a:solidFill>
                <a:latin typeface="Calibri"/>
                <a:cs typeface="Calibri"/>
              </a:rPr>
              <a:t>Ensuring</a:t>
            </a:r>
            <a:r>
              <a:rPr sz="1400" b="1" spc="14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400" b="1" spc="10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1400" b="1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62626"/>
                </a:solidFill>
                <a:latin typeface="Calibri"/>
                <a:cs typeface="Calibri"/>
              </a:rPr>
              <a:t>Quality</a:t>
            </a:r>
            <a:endParaRPr sz="1400" b="1" dirty="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475"/>
              </a:spcBef>
            </a:pPr>
            <a:r>
              <a:rPr sz="1100" dirty="0">
                <a:solidFill>
                  <a:srgbClr val="232323"/>
                </a:solidFill>
                <a:latin typeface="Calibri"/>
                <a:cs typeface="Calibri"/>
              </a:rPr>
              <a:t>Ensuring</a:t>
            </a: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11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Calibri"/>
                <a:cs typeface="Calibri"/>
              </a:rPr>
              <a:t>quality</a:t>
            </a:r>
            <a:r>
              <a:rPr sz="1100" spc="-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42424"/>
                </a:solidFill>
                <a:latin typeface="Calibri"/>
                <a:cs typeface="Calibri"/>
              </a:rPr>
              <a:t>and</a:t>
            </a:r>
            <a:r>
              <a:rPr sz="1100" spc="-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42424"/>
                </a:solidFill>
                <a:latin typeface="Calibri"/>
                <a:cs typeface="Calibri"/>
              </a:rPr>
              <a:t>completeness</a:t>
            </a:r>
            <a:r>
              <a:rPr sz="1100" spc="7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32323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fundamental </a:t>
            </a:r>
            <a:r>
              <a:rPr sz="1100" spc="-10" dirty="0">
                <a:solidFill>
                  <a:srgbClr val="262626"/>
                </a:solidFill>
                <a:latin typeface="Calibri"/>
                <a:cs typeface="Calibri"/>
              </a:rPr>
              <a:t>to</a:t>
            </a:r>
            <a:r>
              <a:rPr sz="1100" spc="-3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Calibri"/>
                <a:cs typeface="Calibri"/>
              </a:rPr>
              <a:t>developing</a:t>
            </a:r>
            <a:r>
              <a:rPr sz="1100" spc="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42424"/>
                </a:solidFill>
                <a:latin typeface="Calibri"/>
                <a:cs typeface="Calibri"/>
              </a:rPr>
              <a:t>robust</a:t>
            </a:r>
            <a:r>
              <a:rPr sz="1100" spc="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Calibri"/>
                <a:cs typeface="Calibri"/>
              </a:rPr>
              <a:t>prediction</a:t>
            </a:r>
            <a:r>
              <a:rPr sz="1100" spc="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models</a:t>
            </a:r>
            <a:r>
              <a:rPr sz="1100" spc="-10" dirty="0" smtClean="0">
                <a:solidFill>
                  <a:srgbClr val="242424"/>
                </a:solidFill>
                <a:latin typeface="Calibri"/>
                <a:cs typeface="Calibri"/>
              </a:rPr>
              <a:t>.</a:t>
            </a:r>
            <a:endParaRPr lang="en-IN" sz="1100" spc="-10" dirty="0" smtClean="0">
              <a:solidFill>
                <a:srgbClr val="242424"/>
              </a:solidFill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475"/>
              </a:spcBef>
            </a:pPr>
            <a:endParaRPr lang="en-IN" sz="1000" spc="-10" dirty="0">
              <a:solidFill>
                <a:srgbClr val="242424"/>
              </a:solidFill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475"/>
              </a:spcBef>
            </a:pPr>
            <a:endParaRPr sz="10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2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43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555"/>
              </a:spcBef>
            </a:pPr>
            <a:r>
              <a:rPr sz="2150" spc="-105" dirty="0">
                <a:solidFill>
                  <a:srgbClr val="262626"/>
                </a:solidFill>
              </a:rPr>
              <a:t>Experimental</a:t>
            </a:r>
            <a:r>
              <a:rPr sz="2150" spc="80" dirty="0">
                <a:solidFill>
                  <a:srgbClr val="262626"/>
                </a:solidFill>
              </a:rPr>
              <a:t> </a:t>
            </a:r>
            <a:r>
              <a:rPr sz="2150" spc="-75" dirty="0">
                <a:solidFill>
                  <a:srgbClr val="262626"/>
                </a:solidFill>
              </a:rPr>
              <a:t>Methodology</a:t>
            </a:r>
            <a:endParaRPr sz="2150" dirty="0"/>
          </a:p>
          <a:p>
            <a:pPr marL="13970">
              <a:lnSpc>
                <a:spcPct val="100000"/>
              </a:lnSpc>
              <a:spcBef>
                <a:spcPts val="225"/>
              </a:spcBef>
            </a:pPr>
            <a:r>
              <a:rPr sz="1100" spc="-40" dirty="0">
                <a:solidFill>
                  <a:srgbClr val="5B5B5B"/>
                </a:solidFill>
              </a:rPr>
              <a:t>A</a:t>
            </a:r>
            <a:r>
              <a:rPr sz="1100" spc="-25" dirty="0">
                <a:solidFill>
                  <a:srgbClr val="5B5B5B"/>
                </a:solidFill>
              </a:rPr>
              <a:t> </a:t>
            </a:r>
            <a:r>
              <a:rPr sz="1100" spc="-30" dirty="0">
                <a:solidFill>
                  <a:srgbClr val="5B5B5B"/>
                </a:solidFill>
              </a:rPr>
              <a:t>structured</a:t>
            </a:r>
            <a:r>
              <a:rPr sz="1100" spc="-10" dirty="0">
                <a:solidFill>
                  <a:srgbClr val="5B5B5B"/>
                </a:solidFill>
              </a:rPr>
              <a:t> </a:t>
            </a:r>
            <a:r>
              <a:rPr sz="1100" spc="-25" dirty="0">
                <a:solidFill>
                  <a:srgbClr val="5B5B5B"/>
                </a:solidFill>
              </a:rPr>
              <a:t>approach</a:t>
            </a:r>
            <a:r>
              <a:rPr sz="1100" spc="15" dirty="0">
                <a:solidFill>
                  <a:srgbClr val="5B5B5B"/>
                </a:solidFill>
              </a:rPr>
              <a:t> </a:t>
            </a:r>
            <a:r>
              <a:rPr sz="1100" spc="-60" dirty="0">
                <a:solidFill>
                  <a:srgbClr val="5B5B5B"/>
                </a:solidFill>
              </a:rPr>
              <a:t>to</a:t>
            </a:r>
            <a:r>
              <a:rPr sz="1100" spc="-45" dirty="0">
                <a:solidFill>
                  <a:srgbClr val="5B5B5B"/>
                </a:solidFill>
              </a:rPr>
              <a:t> </a:t>
            </a:r>
            <a:r>
              <a:rPr sz="1100" spc="-30" dirty="0">
                <a:solidFill>
                  <a:srgbClr val="595959"/>
                </a:solidFill>
              </a:rPr>
              <a:t>evaluating</a:t>
            </a:r>
            <a:r>
              <a:rPr sz="1100" spc="-10" dirty="0">
                <a:solidFill>
                  <a:srgbClr val="595959"/>
                </a:solidFill>
              </a:rPr>
              <a:t> </a:t>
            </a:r>
            <a:r>
              <a:rPr sz="1100" spc="-35" dirty="0">
                <a:solidFill>
                  <a:srgbClr val="5B5B5B"/>
                </a:solidFill>
              </a:rPr>
              <a:t>the</a:t>
            </a:r>
            <a:r>
              <a:rPr sz="1100" spc="-10" dirty="0">
                <a:solidFill>
                  <a:srgbClr val="5B5B5B"/>
                </a:solidFill>
              </a:rPr>
              <a:t> </a:t>
            </a:r>
            <a:r>
              <a:rPr sz="1100" spc="-30" dirty="0">
                <a:solidFill>
                  <a:srgbClr val="595959"/>
                </a:solidFill>
              </a:rPr>
              <a:t>flight</a:t>
            </a:r>
            <a:r>
              <a:rPr sz="1100" spc="5" dirty="0">
                <a:solidFill>
                  <a:srgbClr val="595959"/>
                </a:solidFill>
              </a:rPr>
              <a:t> </a:t>
            </a:r>
            <a:r>
              <a:rPr sz="1100" spc="-20" dirty="0">
                <a:solidFill>
                  <a:srgbClr val="5D5D5D"/>
                </a:solidFill>
              </a:rPr>
              <a:t>delay</a:t>
            </a:r>
            <a:r>
              <a:rPr sz="1100" spc="-5" dirty="0">
                <a:solidFill>
                  <a:srgbClr val="5D5D5D"/>
                </a:solidFill>
              </a:rPr>
              <a:t> </a:t>
            </a:r>
            <a:r>
              <a:rPr sz="1100" spc="-30" dirty="0">
                <a:solidFill>
                  <a:srgbClr val="5B5B5B"/>
                </a:solidFill>
              </a:rPr>
              <a:t>prediction</a:t>
            </a:r>
            <a:r>
              <a:rPr sz="1100" dirty="0">
                <a:solidFill>
                  <a:srgbClr val="5B5B5B"/>
                </a:solidFill>
              </a:rPr>
              <a:t> </a:t>
            </a:r>
            <a:r>
              <a:rPr sz="1100" spc="-10" dirty="0">
                <a:solidFill>
                  <a:srgbClr val="5B5B5B"/>
                </a:solidFill>
              </a:rPr>
              <a:t>system</a:t>
            </a:r>
            <a:endParaRPr sz="1100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791515646"/>
              </p:ext>
            </p:extLst>
          </p:nvPr>
        </p:nvGraphicFramePr>
        <p:xfrm>
          <a:off x="177800" y="1066800"/>
          <a:ext cx="7620001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0571" y="3878579"/>
            <a:ext cx="7317740" cy="0"/>
          </a:xfrm>
          <a:custGeom>
            <a:avLst/>
            <a:gdLst/>
            <a:ahLst/>
            <a:cxnLst/>
            <a:rect l="l" t="t" r="r" b="b"/>
            <a:pathLst>
              <a:path w="7317740">
                <a:moveTo>
                  <a:pt x="0" y="0"/>
                </a:moveTo>
                <a:lnTo>
                  <a:pt x="7317333" y="0"/>
                </a:lnTo>
              </a:path>
            </a:pathLst>
          </a:custGeom>
          <a:ln w="3175">
            <a:solidFill>
              <a:srgbClr val="38A8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0571" y="3247644"/>
            <a:ext cx="7317740" cy="0"/>
          </a:xfrm>
          <a:custGeom>
            <a:avLst/>
            <a:gdLst/>
            <a:ahLst/>
            <a:cxnLst/>
            <a:rect l="l" t="t" r="r" b="b"/>
            <a:pathLst>
              <a:path w="7317740">
                <a:moveTo>
                  <a:pt x="0" y="0"/>
                </a:moveTo>
                <a:lnTo>
                  <a:pt x="7317333" y="0"/>
                </a:lnTo>
              </a:path>
            </a:pathLst>
          </a:custGeom>
          <a:ln w="3175">
            <a:solidFill>
              <a:srgbClr val="48A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0571" y="2729483"/>
            <a:ext cx="7317740" cy="0"/>
          </a:xfrm>
          <a:custGeom>
            <a:avLst/>
            <a:gdLst/>
            <a:ahLst/>
            <a:cxnLst/>
            <a:rect l="l" t="t" r="r" b="b"/>
            <a:pathLst>
              <a:path w="7317740">
                <a:moveTo>
                  <a:pt x="0" y="0"/>
                </a:moveTo>
                <a:lnTo>
                  <a:pt x="7317333" y="0"/>
                </a:lnTo>
              </a:path>
            </a:pathLst>
          </a:custGeom>
          <a:ln w="3175">
            <a:solidFill>
              <a:srgbClr val="38A8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0571" y="2098548"/>
            <a:ext cx="7317740" cy="0"/>
          </a:xfrm>
          <a:custGeom>
            <a:avLst/>
            <a:gdLst/>
            <a:ahLst/>
            <a:cxnLst/>
            <a:rect l="l" t="t" r="r" b="b"/>
            <a:pathLst>
              <a:path w="7317740">
                <a:moveTo>
                  <a:pt x="0" y="0"/>
                </a:moveTo>
                <a:lnTo>
                  <a:pt x="7317333" y="0"/>
                </a:lnTo>
              </a:path>
            </a:pathLst>
          </a:custGeom>
          <a:ln w="3175">
            <a:solidFill>
              <a:srgbClr val="38A3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4618" y="238840"/>
            <a:ext cx="7338763" cy="60337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545"/>
              </a:spcBef>
            </a:pPr>
            <a:r>
              <a:rPr spc="-110" dirty="0"/>
              <a:t>Results</a:t>
            </a:r>
            <a:r>
              <a:rPr spc="20" dirty="0"/>
              <a:t> </a:t>
            </a:r>
            <a:r>
              <a:rPr spc="-145" dirty="0"/>
              <a:t>and</a:t>
            </a:r>
            <a:r>
              <a:rPr spc="-40" dirty="0"/>
              <a:t> </a:t>
            </a:r>
            <a:r>
              <a:rPr spc="-10" dirty="0">
                <a:solidFill>
                  <a:srgbClr val="242424"/>
                </a:solidFill>
              </a:rPr>
              <a:t>Discussion</a:t>
            </a:r>
          </a:p>
          <a:p>
            <a:pPr marL="8255">
              <a:lnSpc>
                <a:spcPct val="100000"/>
              </a:lnSpc>
              <a:spcBef>
                <a:spcPts val="215"/>
              </a:spcBef>
            </a:pPr>
            <a:r>
              <a:rPr sz="1100" dirty="0">
                <a:solidFill>
                  <a:srgbClr val="595959"/>
                </a:solidFill>
              </a:rPr>
              <a:t>Insights</a:t>
            </a:r>
            <a:r>
              <a:rPr sz="1100" spc="30" dirty="0">
                <a:solidFill>
                  <a:srgbClr val="595959"/>
                </a:solidFill>
              </a:rPr>
              <a:t> </a:t>
            </a:r>
            <a:r>
              <a:rPr sz="1100" spc="-50" dirty="0">
                <a:solidFill>
                  <a:srgbClr val="5B5B5B"/>
                </a:solidFill>
              </a:rPr>
              <a:t>into</a:t>
            </a:r>
            <a:r>
              <a:rPr sz="1100" spc="-30" dirty="0">
                <a:solidFill>
                  <a:srgbClr val="5B5B5B"/>
                </a:solidFill>
              </a:rPr>
              <a:t> </a:t>
            </a:r>
            <a:r>
              <a:rPr sz="1100" spc="-40" dirty="0">
                <a:solidFill>
                  <a:srgbClr val="5B5B5B"/>
                </a:solidFill>
              </a:rPr>
              <a:t>the</a:t>
            </a:r>
            <a:r>
              <a:rPr sz="1100" spc="-15" dirty="0">
                <a:solidFill>
                  <a:srgbClr val="5B5B5B"/>
                </a:solidFill>
              </a:rPr>
              <a:t> </a:t>
            </a:r>
            <a:r>
              <a:rPr sz="1100" spc="-30" dirty="0">
                <a:solidFill>
                  <a:srgbClr val="595959"/>
                </a:solidFill>
              </a:rPr>
              <a:t>effectiveness</a:t>
            </a:r>
            <a:r>
              <a:rPr sz="1100" spc="40" dirty="0">
                <a:solidFill>
                  <a:srgbClr val="595959"/>
                </a:solidFill>
              </a:rPr>
              <a:t> </a:t>
            </a:r>
            <a:r>
              <a:rPr sz="1100" spc="-20" dirty="0">
                <a:solidFill>
                  <a:srgbClr val="5B5B5B"/>
                </a:solidFill>
              </a:rPr>
              <a:t>and</a:t>
            </a:r>
            <a:r>
              <a:rPr sz="1100" spc="-35" dirty="0">
                <a:solidFill>
                  <a:srgbClr val="5B5B5B"/>
                </a:solidFill>
              </a:rPr>
              <a:t> </a:t>
            </a:r>
            <a:r>
              <a:rPr sz="1100" spc="-30" dirty="0">
                <a:solidFill>
                  <a:srgbClr val="5B5B5B"/>
                </a:solidFill>
              </a:rPr>
              <a:t>limitations</a:t>
            </a:r>
            <a:r>
              <a:rPr sz="1100" spc="20" dirty="0">
                <a:solidFill>
                  <a:srgbClr val="5B5B5B"/>
                </a:solidFill>
              </a:rPr>
              <a:t> </a:t>
            </a:r>
            <a:r>
              <a:rPr sz="1100" spc="-55" dirty="0">
                <a:solidFill>
                  <a:srgbClr val="5D5D5D"/>
                </a:solidFill>
              </a:rPr>
              <a:t>of</a:t>
            </a:r>
            <a:r>
              <a:rPr sz="1100" spc="-25" dirty="0">
                <a:solidFill>
                  <a:srgbClr val="5D5D5D"/>
                </a:solidFill>
              </a:rPr>
              <a:t> </a:t>
            </a:r>
            <a:r>
              <a:rPr sz="1100" spc="-25" dirty="0">
                <a:solidFill>
                  <a:srgbClr val="5B5B5B"/>
                </a:solidFill>
              </a:rPr>
              <a:t>machine</a:t>
            </a:r>
            <a:r>
              <a:rPr sz="1100" spc="35" dirty="0">
                <a:solidFill>
                  <a:srgbClr val="5B5B5B"/>
                </a:solidFill>
              </a:rPr>
              <a:t> </a:t>
            </a:r>
            <a:r>
              <a:rPr sz="1100" spc="-30" dirty="0">
                <a:solidFill>
                  <a:srgbClr val="595959"/>
                </a:solidFill>
              </a:rPr>
              <a:t>learning</a:t>
            </a:r>
            <a:r>
              <a:rPr sz="1100" spc="15" dirty="0">
                <a:solidFill>
                  <a:srgbClr val="595959"/>
                </a:solidFill>
              </a:rPr>
              <a:t> </a:t>
            </a:r>
            <a:r>
              <a:rPr sz="1100" spc="-45" dirty="0">
                <a:solidFill>
                  <a:srgbClr val="595959"/>
                </a:solidFill>
              </a:rPr>
              <a:t>for</a:t>
            </a:r>
            <a:r>
              <a:rPr sz="1100" spc="-35" dirty="0">
                <a:solidFill>
                  <a:srgbClr val="595959"/>
                </a:solidFill>
              </a:rPr>
              <a:t> </a:t>
            </a:r>
            <a:r>
              <a:rPr sz="1100" spc="-30" dirty="0">
                <a:solidFill>
                  <a:srgbClr val="595959"/>
                </a:solidFill>
              </a:rPr>
              <a:t>flight</a:t>
            </a:r>
            <a:r>
              <a:rPr sz="1100" spc="10" dirty="0">
                <a:solidFill>
                  <a:srgbClr val="595959"/>
                </a:solidFill>
              </a:rPr>
              <a:t> </a:t>
            </a:r>
            <a:r>
              <a:rPr sz="1100" spc="-20" dirty="0">
                <a:solidFill>
                  <a:srgbClr val="5B5B5B"/>
                </a:solidFill>
              </a:rPr>
              <a:t>delay</a:t>
            </a:r>
            <a:r>
              <a:rPr sz="1100" spc="-5" dirty="0">
                <a:solidFill>
                  <a:srgbClr val="5B5B5B"/>
                </a:solidFill>
              </a:rPr>
              <a:t> </a:t>
            </a:r>
            <a:r>
              <a:rPr sz="1100" spc="-10" dirty="0">
                <a:solidFill>
                  <a:srgbClr val="5B5B5B"/>
                </a:solidFill>
              </a:rPr>
              <a:t>prediction</a:t>
            </a:r>
            <a:endParaRPr sz="1100" dirty="0"/>
          </a:p>
        </p:txBody>
      </p:sp>
      <p:sp>
        <p:nvSpPr>
          <p:cNvPr id="9" name="object 9"/>
          <p:cNvSpPr txBox="1"/>
          <p:nvPr/>
        </p:nvSpPr>
        <p:spPr>
          <a:xfrm>
            <a:off x="710426" y="1528826"/>
            <a:ext cx="2268220" cy="42492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065" marR="5080">
              <a:lnSpc>
                <a:spcPct val="102200"/>
              </a:lnSpc>
              <a:spcBef>
                <a:spcPts val="65"/>
              </a:spcBef>
            </a:pPr>
            <a:r>
              <a:rPr sz="1350" b="1" spc="-30" dirty="0">
                <a:solidFill>
                  <a:srgbClr val="212121"/>
                </a:solidFill>
                <a:latin typeface="Calibri"/>
                <a:cs typeface="Calibri"/>
              </a:rPr>
              <a:t>Effectiveness</a:t>
            </a:r>
            <a:r>
              <a:rPr sz="1350" b="1" spc="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50" b="1" spc="-6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1350" b="1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350" b="1" spc="-40" dirty="0">
                <a:solidFill>
                  <a:srgbClr val="262626"/>
                </a:solidFill>
                <a:latin typeface="Calibri"/>
                <a:cs typeface="Calibri"/>
              </a:rPr>
              <a:t>machine</a:t>
            </a:r>
            <a:r>
              <a:rPr sz="1350" b="1" spc="-1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242424"/>
                </a:solidFill>
                <a:latin typeface="Calibri"/>
                <a:cs typeface="Calibri"/>
              </a:rPr>
              <a:t>learning </a:t>
            </a:r>
            <a:r>
              <a:rPr sz="1350" b="1" spc="-10" dirty="0">
                <a:solidFill>
                  <a:srgbClr val="262626"/>
                </a:solidFill>
                <a:latin typeface="Calibri"/>
                <a:cs typeface="Calibri"/>
              </a:rPr>
              <a:t>models</a:t>
            </a:r>
            <a:endParaRPr sz="1350" b="1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9402" y="2281682"/>
            <a:ext cx="2333625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755" algn="l"/>
              </a:tabLst>
            </a:pPr>
            <a:r>
              <a:rPr sz="1350" dirty="0">
                <a:solidFill>
                  <a:srgbClr val="03C39A"/>
                </a:solidFill>
                <a:latin typeface="Arial MT"/>
                <a:cs typeface="Arial MT"/>
              </a:rPr>
              <a:t>	</a:t>
            </a:r>
            <a:r>
              <a:rPr sz="1350" b="1" spc="-70" dirty="0">
                <a:solidFill>
                  <a:srgbClr val="232323"/>
                </a:solidFill>
                <a:latin typeface="+mn-lt"/>
                <a:cs typeface="Arial MT"/>
              </a:rPr>
              <a:t>Improved</a:t>
            </a:r>
            <a:r>
              <a:rPr sz="1350" b="1" dirty="0">
                <a:solidFill>
                  <a:srgbClr val="232323"/>
                </a:solidFill>
                <a:latin typeface="+mn-lt"/>
                <a:cs typeface="Arial MT"/>
              </a:rPr>
              <a:t> </a:t>
            </a:r>
            <a:r>
              <a:rPr sz="1350" b="1" spc="-65" dirty="0">
                <a:solidFill>
                  <a:srgbClr val="262626"/>
                </a:solidFill>
                <a:latin typeface="+mn-lt"/>
                <a:cs typeface="Arial MT"/>
              </a:rPr>
              <a:t>prediction</a:t>
            </a:r>
            <a:r>
              <a:rPr sz="1350" b="1" spc="15" dirty="0">
                <a:solidFill>
                  <a:srgbClr val="262626"/>
                </a:solidFill>
                <a:latin typeface="+mn-lt"/>
                <a:cs typeface="Arial MT"/>
              </a:rPr>
              <a:t> </a:t>
            </a:r>
            <a:r>
              <a:rPr sz="1350" b="1" spc="-90" dirty="0">
                <a:solidFill>
                  <a:srgbClr val="242424"/>
                </a:solidFill>
                <a:latin typeface="+mn-lt"/>
                <a:cs typeface="Arial MT"/>
              </a:rPr>
              <a:t>accuracy</a:t>
            </a:r>
            <a:endParaRPr sz="1350" b="1" dirty="0">
              <a:latin typeface="+mn-l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7896" y="2857753"/>
            <a:ext cx="2685504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7820" algn="l"/>
              </a:tabLst>
            </a:pPr>
            <a:r>
              <a:rPr sz="1350" dirty="0">
                <a:solidFill>
                  <a:srgbClr val="03C39A"/>
                </a:solidFill>
                <a:latin typeface="Calibri"/>
                <a:cs typeface="Calibri"/>
              </a:rPr>
              <a:t>	</a:t>
            </a:r>
            <a:r>
              <a:rPr sz="1350" b="1" spc="-30" dirty="0">
                <a:solidFill>
                  <a:srgbClr val="232323"/>
                </a:solidFill>
                <a:latin typeface="Calibri"/>
                <a:cs typeface="Calibri"/>
              </a:rPr>
              <a:t>Challenges</a:t>
            </a:r>
            <a:r>
              <a:rPr sz="1350" b="1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350" b="1" spc="-35" dirty="0">
                <a:solidFill>
                  <a:srgbClr val="232323"/>
                </a:solidFill>
                <a:latin typeface="Calibri"/>
                <a:cs typeface="Calibri"/>
              </a:rPr>
              <a:t>encountered</a:t>
            </a:r>
            <a:endParaRPr sz="1350" b="1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9634" y="3431032"/>
            <a:ext cx="240792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5280" algn="l"/>
              </a:tabLst>
            </a:pPr>
            <a:r>
              <a:rPr sz="1300" dirty="0">
                <a:solidFill>
                  <a:srgbClr val="03C39A"/>
                </a:solidFill>
                <a:latin typeface="Arial MT"/>
                <a:cs typeface="Arial MT"/>
              </a:rPr>
              <a:t>	</a:t>
            </a:r>
            <a:r>
              <a:rPr sz="1300" b="1" spc="-45" dirty="0">
                <a:solidFill>
                  <a:srgbClr val="232323"/>
                </a:solidFill>
                <a:latin typeface="+mn-lt"/>
                <a:cs typeface="Arial MT"/>
              </a:rPr>
              <a:t>Limitations</a:t>
            </a:r>
            <a:r>
              <a:rPr sz="1300" b="1" spc="-10" dirty="0">
                <a:solidFill>
                  <a:srgbClr val="232323"/>
                </a:solidFill>
                <a:latin typeface="+mn-lt"/>
                <a:cs typeface="Arial MT"/>
              </a:rPr>
              <a:t> </a:t>
            </a:r>
            <a:r>
              <a:rPr sz="1300" b="1" spc="-75" dirty="0">
                <a:solidFill>
                  <a:srgbClr val="242424"/>
                </a:solidFill>
                <a:latin typeface="+mn-lt"/>
                <a:cs typeface="Arial MT"/>
              </a:rPr>
              <a:t>of</a:t>
            </a:r>
            <a:r>
              <a:rPr sz="1300" b="1" spc="-55" dirty="0">
                <a:solidFill>
                  <a:srgbClr val="242424"/>
                </a:solidFill>
                <a:latin typeface="+mn-lt"/>
                <a:cs typeface="Arial MT"/>
              </a:rPr>
              <a:t> </a:t>
            </a:r>
            <a:r>
              <a:rPr sz="1300" b="1" spc="-45" dirty="0">
                <a:solidFill>
                  <a:srgbClr val="262626"/>
                </a:solidFill>
                <a:latin typeface="+mn-lt"/>
                <a:cs typeface="Arial MT"/>
              </a:rPr>
              <a:t>the</a:t>
            </a:r>
            <a:r>
              <a:rPr sz="1300" b="1" spc="-95" dirty="0">
                <a:solidFill>
                  <a:srgbClr val="262626"/>
                </a:solidFill>
                <a:latin typeface="+mn-lt"/>
                <a:cs typeface="Arial MT"/>
              </a:rPr>
              <a:t> </a:t>
            </a:r>
            <a:r>
              <a:rPr sz="1300" b="1" spc="-50" dirty="0">
                <a:solidFill>
                  <a:srgbClr val="232323"/>
                </a:solidFill>
                <a:latin typeface="+mn-lt"/>
                <a:cs typeface="Arial MT"/>
              </a:rPr>
              <a:t>methodology</a:t>
            </a:r>
            <a:endParaRPr sz="1300" b="1" dirty="0">
              <a:latin typeface="+mn-l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36494" y="1402365"/>
            <a:ext cx="4261306" cy="57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1100"/>
              </a:lnSpc>
              <a:spcBef>
                <a:spcPts val="100"/>
              </a:spcBef>
            </a:pPr>
            <a:r>
              <a:rPr sz="1100" spc="-45" dirty="0">
                <a:solidFill>
                  <a:srgbClr val="232323"/>
                </a:solidFill>
                <a:latin typeface="Calibri"/>
                <a:cs typeface="Calibri"/>
              </a:rPr>
              <a:t>Machine</a:t>
            </a:r>
            <a:r>
              <a:rPr sz="1100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42424"/>
                </a:solidFill>
                <a:latin typeface="Calibri"/>
                <a:cs typeface="Calibri"/>
              </a:rPr>
              <a:t>learning</a:t>
            </a:r>
            <a:r>
              <a:rPr sz="1100" spc="2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32323"/>
                </a:solidFill>
                <a:latin typeface="Calibri"/>
                <a:cs typeface="Calibri"/>
              </a:rPr>
              <a:t>models</a:t>
            </a:r>
            <a:r>
              <a:rPr sz="11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lang="en-IN" sz="1100" spc="10" dirty="0" smtClean="0">
                <a:solidFill>
                  <a:srgbClr val="232323"/>
                </a:solidFill>
                <a:latin typeface="Calibri"/>
                <a:cs typeface="Calibri"/>
              </a:rPr>
              <a:t>(</a:t>
            </a:r>
            <a:r>
              <a:rPr lang="en-IN" sz="1100" spc="-10" dirty="0" smtClean="0">
                <a:solidFill>
                  <a:srgbClr val="212121"/>
                </a:solidFill>
                <a:latin typeface="Calibri"/>
                <a:cs typeface="Calibri"/>
              </a:rPr>
              <a:t>logistic regression, random forest, gradient boosting and Bayesian statistics</a:t>
            </a:r>
            <a:r>
              <a:rPr lang="en-IN" sz="1100" spc="10" dirty="0" smtClean="0">
                <a:solidFill>
                  <a:srgbClr val="232323"/>
                </a:solidFill>
                <a:latin typeface="Calibri"/>
                <a:cs typeface="Calibri"/>
              </a:rPr>
              <a:t>) </a:t>
            </a:r>
            <a:r>
              <a:rPr sz="1100" spc="-40" dirty="0" smtClean="0">
                <a:solidFill>
                  <a:srgbClr val="242424"/>
                </a:solidFill>
                <a:latin typeface="Calibri"/>
                <a:cs typeface="Calibri"/>
              </a:rPr>
              <a:t>demonstrated</a:t>
            </a:r>
            <a:r>
              <a:rPr sz="1100" spc="90" dirty="0" smtClean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sz="1100" spc="-7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42424"/>
                </a:solidFill>
                <a:latin typeface="Calibri"/>
                <a:cs typeface="Calibri"/>
              </a:rPr>
              <a:t>significant</a:t>
            </a:r>
            <a:r>
              <a:rPr sz="1100" spc="5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42424"/>
                </a:solidFill>
                <a:latin typeface="Calibri"/>
                <a:cs typeface="Calibri"/>
              </a:rPr>
              <a:t>ability</a:t>
            </a:r>
            <a:r>
              <a:rPr sz="110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42424"/>
                </a:solidFill>
                <a:latin typeface="Calibri"/>
                <a:cs typeface="Calibri"/>
              </a:rPr>
              <a:t>to</a:t>
            </a:r>
            <a:r>
              <a:rPr sz="1100" spc="-5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predict</a:t>
            </a:r>
            <a:r>
              <a:rPr sz="110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32323"/>
                </a:solidFill>
                <a:latin typeface="Calibri"/>
                <a:cs typeface="Calibri"/>
              </a:rPr>
              <a:t>flight</a:t>
            </a:r>
            <a:r>
              <a:rPr sz="1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delays</a:t>
            </a:r>
            <a:r>
              <a:rPr sz="1100" spc="50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accurately</a:t>
            </a:r>
            <a:r>
              <a:rPr sz="900" spc="-10" dirty="0">
                <a:solidFill>
                  <a:srgbClr val="242424"/>
                </a:solidFill>
                <a:latin typeface="Calibri"/>
                <a:cs typeface="Calibri"/>
              </a:rPr>
              <a:t>.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27795" y="2262632"/>
            <a:ext cx="4205586" cy="3885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1100"/>
              </a:lnSpc>
              <a:spcBef>
                <a:spcPts val="100"/>
              </a:spcBef>
            </a:pPr>
            <a:r>
              <a:rPr sz="1100" spc="-10" dirty="0">
                <a:solidFill>
                  <a:srgbClr val="262626"/>
                </a:solidFill>
                <a:latin typeface="Calibri"/>
                <a:cs typeface="Calibri"/>
              </a:rPr>
              <a:t>These</a:t>
            </a:r>
            <a:r>
              <a:rPr sz="1100" spc="-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42424"/>
                </a:solidFill>
                <a:latin typeface="Calibri"/>
                <a:cs typeface="Calibri"/>
              </a:rPr>
              <a:t>models</a:t>
            </a:r>
            <a:r>
              <a:rPr sz="1100" spc="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40" dirty="0">
                <a:solidFill>
                  <a:srgbClr val="262626"/>
                </a:solidFill>
                <a:latin typeface="Calibri"/>
                <a:cs typeface="Calibri"/>
              </a:rPr>
              <a:t>provided</a:t>
            </a:r>
            <a:r>
              <a:rPr sz="1100" spc="3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32323"/>
                </a:solidFill>
                <a:latin typeface="Calibri"/>
                <a:cs typeface="Calibri"/>
              </a:rPr>
              <a:t>better</a:t>
            </a:r>
            <a:r>
              <a:rPr sz="1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42424"/>
                </a:solidFill>
                <a:latin typeface="Calibri"/>
                <a:cs typeface="Calibri"/>
              </a:rPr>
              <a:t>prediction</a:t>
            </a:r>
            <a:r>
              <a:rPr sz="1100" spc="3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32323"/>
                </a:solidFill>
                <a:latin typeface="Calibri"/>
                <a:cs typeface="Calibri"/>
              </a:rPr>
              <a:t>accuracy</a:t>
            </a:r>
            <a:r>
              <a:rPr sz="11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32323"/>
                </a:solidFill>
                <a:latin typeface="Calibri"/>
                <a:cs typeface="Calibri"/>
              </a:rPr>
              <a:t>compared</a:t>
            </a:r>
            <a:r>
              <a:rPr sz="110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40" dirty="0">
                <a:solidFill>
                  <a:srgbClr val="262626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42424"/>
                </a:solidFill>
                <a:latin typeface="Calibri"/>
                <a:cs typeface="Calibri"/>
              </a:rPr>
              <a:t>traditional</a:t>
            </a:r>
            <a:r>
              <a:rPr sz="1100" spc="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forecasting</a:t>
            </a:r>
            <a:r>
              <a:rPr sz="1100" spc="5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methods.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7795" y="2858909"/>
            <a:ext cx="396520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1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32323"/>
                </a:solidFill>
                <a:latin typeface="Calibri"/>
                <a:cs typeface="Calibri"/>
              </a:rPr>
              <a:t>study</a:t>
            </a:r>
            <a:r>
              <a:rPr sz="11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lang="en-IN" sz="1100" spc="10" dirty="0" smtClean="0">
                <a:solidFill>
                  <a:srgbClr val="232323"/>
                </a:solidFill>
                <a:latin typeface="Calibri"/>
                <a:cs typeface="Calibri"/>
              </a:rPr>
              <a:t>may </a:t>
            </a:r>
            <a:r>
              <a:rPr sz="1100" spc="-25" dirty="0" smtClean="0">
                <a:solidFill>
                  <a:srgbClr val="232323"/>
                </a:solidFill>
                <a:latin typeface="Calibri"/>
                <a:cs typeface="Calibri"/>
              </a:rPr>
              <a:t>face</a:t>
            </a:r>
            <a:r>
              <a:rPr sz="1100" spc="-15" dirty="0" smtClean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42424"/>
                </a:solidFill>
                <a:latin typeface="Calibri"/>
                <a:cs typeface="Calibri"/>
              </a:rPr>
              <a:t>several</a:t>
            </a:r>
            <a:r>
              <a:rPr sz="1100" spc="-4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challenges,</a:t>
            </a:r>
            <a:r>
              <a:rPr sz="11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42424"/>
                </a:solidFill>
                <a:latin typeface="Calibri"/>
                <a:cs typeface="Calibri"/>
              </a:rPr>
              <a:t>including</a:t>
            </a:r>
            <a:r>
              <a:rPr sz="1100" spc="3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62626"/>
                </a:solidFill>
                <a:latin typeface="Calibri"/>
                <a:cs typeface="Calibri"/>
              </a:rPr>
              <a:t>data</a:t>
            </a:r>
            <a:r>
              <a:rPr sz="1100" spc="-3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42424"/>
                </a:solidFill>
                <a:latin typeface="Calibri"/>
                <a:cs typeface="Calibri"/>
              </a:rPr>
              <a:t>quality</a:t>
            </a:r>
            <a:r>
              <a:rPr sz="110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62626"/>
                </a:solidFill>
                <a:latin typeface="Calibri"/>
                <a:cs typeface="Calibri"/>
              </a:rPr>
              <a:t>and </a:t>
            </a:r>
            <a:r>
              <a:rPr sz="1100" spc="-35" dirty="0">
                <a:solidFill>
                  <a:srgbClr val="232323"/>
                </a:solidFill>
                <a:latin typeface="Calibri"/>
                <a:cs typeface="Calibri"/>
              </a:rPr>
              <a:t>integration</a:t>
            </a:r>
            <a:r>
              <a:rPr sz="11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issues.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28764" y="3409950"/>
            <a:ext cx="4116636" cy="3683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100"/>
              </a:spcBef>
            </a:pPr>
            <a:r>
              <a:rPr sz="1100" spc="-50" dirty="0">
                <a:solidFill>
                  <a:srgbClr val="242424"/>
                </a:solidFill>
                <a:latin typeface="Calibri"/>
                <a:cs typeface="Calibri"/>
              </a:rPr>
              <a:t>Certain</a:t>
            </a:r>
            <a:r>
              <a:rPr sz="1100" spc="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42424"/>
                </a:solidFill>
                <a:latin typeface="Calibri"/>
                <a:cs typeface="Calibri"/>
              </a:rPr>
              <a:t>methodological</a:t>
            </a:r>
            <a:r>
              <a:rPr sz="1100" spc="-8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12121"/>
                </a:solidFill>
                <a:latin typeface="Calibri"/>
                <a:cs typeface="Calibri"/>
              </a:rPr>
              <a:t>limitations</a:t>
            </a:r>
            <a:r>
              <a:rPr sz="1100" spc="5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32323"/>
                </a:solidFill>
                <a:latin typeface="Calibri"/>
                <a:cs typeface="Calibri"/>
              </a:rPr>
              <a:t>affected</a:t>
            </a:r>
            <a:r>
              <a:rPr sz="110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65" dirty="0">
                <a:solidFill>
                  <a:srgbClr val="262626"/>
                </a:solidFill>
                <a:latin typeface="Calibri"/>
                <a:cs typeface="Calibri"/>
              </a:rPr>
              <a:t>the</a:t>
            </a:r>
            <a:r>
              <a:rPr sz="1100" spc="-1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32323"/>
                </a:solidFill>
                <a:latin typeface="Calibri"/>
                <a:cs typeface="Calibri"/>
              </a:rPr>
              <a:t>overall</a:t>
            </a: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32323"/>
                </a:solidFill>
                <a:latin typeface="Calibri"/>
                <a:cs typeface="Calibri"/>
              </a:rPr>
              <a:t>predictive</a:t>
            </a:r>
            <a:r>
              <a:rPr sz="11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232323"/>
                </a:solidFill>
                <a:latin typeface="Calibri"/>
                <a:cs typeface="Calibri"/>
              </a:rPr>
              <a:t>performance</a:t>
            </a:r>
            <a:r>
              <a:rPr sz="1100" spc="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75" dirty="0">
                <a:solidFill>
                  <a:srgbClr val="262626"/>
                </a:solidFill>
                <a:latin typeface="Calibri"/>
                <a:cs typeface="Calibri"/>
              </a:rPr>
              <a:t>of</a:t>
            </a:r>
            <a:r>
              <a:rPr sz="1100" spc="1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models.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120896"/>
            <a:ext cx="575999" cy="1036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4000" y="76200"/>
            <a:ext cx="7696200" cy="916918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R="17780" algn="l">
              <a:lnSpc>
                <a:spcPct val="100000"/>
              </a:lnSpc>
              <a:spcBef>
                <a:spcPts val="885"/>
              </a:spcBef>
            </a:pPr>
            <a:r>
              <a:rPr sz="2700" spc="-145" dirty="0"/>
              <a:t>Machine</a:t>
            </a:r>
            <a:r>
              <a:rPr sz="2700" spc="15" dirty="0"/>
              <a:t> </a:t>
            </a:r>
            <a:r>
              <a:rPr sz="2700" spc="-100" dirty="0"/>
              <a:t>learning</a:t>
            </a:r>
            <a:r>
              <a:rPr sz="2700" spc="-30" dirty="0"/>
              <a:t> </a:t>
            </a:r>
            <a:r>
              <a:rPr sz="2700" spc="-90" dirty="0"/>
              <a:t>models</a:t>
            </a:r>
            <a:r>
              <a:rPr sz="2700" spc="-45" dirty="0"/>
              <a:t> </a:t>
            </a:r>
            <a:r>
              <a:rPr sz="2700" spc="-35" dirty="0"/>
              <a:t>effectiveness</a:t>
            </a:r>
            <a:endParaRPr sz="2700" dirty="0"/>
          </a:p>
          <a:p>
            <a:pPr marL="12700" marR="5080" algn="l">
              <a:lnSpc>
                <a:spcPct val="106700"/>
              </a:lnSpc>
              <a:spcBef>
                <a:spcPts val="220"/>
              </a:spcBef>
            </a:pPr>
            <a:r>
              <a:rPr lang="en-IN" sz="1100" dirty="0" smtClean="0"/>
              <a:t>Each </a:t>
            </a:r>
            <a:r>
              <a:rPr lang="en-IN" sz="1100" dirty="0"/>
              <a:t>model offers unique </a:t>
            </a:r>
            <a:r>
              <a:rPr lang="en-IN" sz="1100" dirty="0" smtClean="0"/>
              <a:t>strengths and </a:t>
            </a:r>
            <a:r>
              <a:rPr lang="en-IN" sz="1100" dirty="0"/>
              <a:t>combining these through ensemble methods or stacking can often yield the most accurate and reliable predictions for flight delays.</a:t>
            </a:r>
            <a:endParaRPr sz="1050" dirty="0"/>
          </a:p>
        </p:txBody>
      </p:sp>
      <p:sp>
        <p:nvSpPr>
          <p:cNvPr id="3" name="Rectangle 2"/>
          <p:cNvSpPr/>
          <p:nvPr/>
        </p:nvSpPr>
        <p:spPr>
          <a:xfrm>
            <a:off x="287999" y="990600"/>
            <a:ext cx="78486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>
                <a:solidFill>
                  <a:schemeClr val="tx2">
                    <a:lumMod val="75000"/>
                  </a:schemeClr>
                </a:solidFill>
              </a:rPr>
              <a:t>Logistic Regression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Logistic regression is a straightforward yet effective classifier for binary outcomes, such as predicting whether a flight will be delayed or not.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I</a:t>
            </a:r>
            <a:r>
              <a:rPr lang="en-IN" sz="12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t can still offer valuable insights, especially when delays are influenced by linear relationships among variables.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I</a:t>
            </a:r>
            <a:r>
              <a:rPr lang="en-IN" sz="12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t might lack the depth needed for highly complex interactions, which limits its predictive power in certain cases</a:t>
            </a:r>
            <a:r>
              <a:rPr lang="en-IN" dirty="0" smtClean="0">
                <a:solidFill>
                  <a:schemeClr val="tx2">
                    <a:lumMod val="75000"/>
                  </a:schemeClr>
                </a:solidFill>
              </a:rPr>
              <a:t>.</a:t>
            </a:r>
          </a:p>
          <a:p>
            <a:endParaRPr lang="en-IN" dirty="0" smtClean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IN" sz="16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Random Forest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Random forests leverage ensemble learning, combining multiple decision trees to improve accuracy and control overfitting.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This model is particularly effective for flight delay prediction, as it handles high-dimensional data well and captures nonlinear relationships between features.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Random forests are often favoured in this domain due to their robustness and ability to provide feature importance, which helps to identify the most influential factors behind delays.</a:t>
            </a:r>
          </a:p>
          <a:p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120896"/>
            <a:ext cx="575999" cy="1036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4000" y="76200"/>
            <a:ext cx="7696200" cy="735779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R="17780" algn="l">
              <a:lnSpc>
                <a:spcPct val="100000"/>
              </a:lnSpc>
              <a:spcBef>
                <a:spcPts val="885"/>
              </a:spcBef>
            </a:pPr>
            <a:r>
              <a:rPr sz="2700" spc="-145" dirty="0"/>
              <a:t>Machine</a:t>
            </a:r>
            <a:r>
              <a:rPr sz="2700" spc="15" dirty="0"/>
              <a:t> </a:t>
            </a:r>
            <a:r>
              <a:rPr sz="2700" spc="-100" dirty="0"/>
              <a:t>learning</a:t>
            </a:r>
            <a:r>
              <a:rPr sz="2700" spc="-30" dirty="0"/>
              <a:t> </a:t>
            </a:r>
            <a:r>
              <a:rPr sz="2700" spc="-90" dirty="0"/>
              <a:t>models</a:t>
            </a:r>
            <a:r>
              <a:rPr sz="2700" spc="-45" dirty="0"/>
              <a:t> </a:t>
            </a:r>
            <a:r>
              <a:rPr sz="2700" spc="-35" dirty="0"/>
              <a:t>effectiveness</a:t>
            </a:r>
            <a:endParaRPr sz="2700" dirty="0"/>
          </a:p>
          <a:p>
            <a:pPr marL="12700" marR="5080" algn="l">
              <a:lnSpc>
                <a:spcPct val="106700"/>
              </a:lnSpc>
              <a:spcBef>
                <a:spcPts val="220"/>
              </a:spcBef>
            </a:pPr>
            <a:r>
              <a:rPr sz="1100" spc="-50" dirty="0">
                <a:solidFill>
                  <a:srgbClr val="5B5B5B"/>
                </a:solidFill>
              </a:rPr>
              <a:t>Machine</a:t>
            </a:r>
            <a:r>
              <a:rPr sz="1100" spc="-10" dirty="0">
                <a:solidFill>
                  <a:srgbClr val="5B5B5B"/>
                </a:solidFill>
              </a:rPr>
              <a:t> </a:t>
            </a:r>
            <a:r>
              <a:rPr sz="1100" spc="-25" dirty="0">
                <a:solidFill>
                  <a:srgbClr val="5B5B5B"/>
                </a:solidFill>
              </a:rPr>
              <a:t>learning</a:t>
            </a:r>
            <a:r>
              <a:rPr sz="1100" spc="-30" dirty="0">
                <a:solidFill>
                  <a:srgbClr val="5B5B5B"/>
                </a:solidFill>
              </a:rPr>
              <a:t> </a:t>
            </a:r>
            <a:r>
              <a:rPr sz="1100" spc="-25" dirty="0">
                <a:solidFill>
                  <a:srgbClr val="595959"/>
                </a:solidFill>
              </a:rPr>
              <a:t>models</a:t>
            </a:r>
            <a:r>
              <a:rPr sz="1100" dirty="0">
                <a:solidFill>
                  <a:srgbClr val="595959"/>
                </a:solidFill>
              </a:rPr>
              <a:t> </a:t>
            </a:r>
            <a:r>
              <a:rPr sz="1100" spc="-20" dirty="0">
                <a:solidFill>
                  <a:srgbClr val="5B5B5B"/>
                </a:solidFill>
              </a:rPr>
              <a:t>are</a:t>
            </a:r>
            <a:r>
              <a:rPr sz="1100" spc="-15" dirty="0">
                <a:solidFill>
                  <a:srgbClr val="5B5B5B"/>
                </a:solidFill>
              </a:rPr>
              <a:t> </a:t>
            </a:r>
            <a:r>
              <a:rPr sz="1100" spc="-40" dirty="0">
                <a:solidFill>
                  <a:srgbClr val="5B5B5B"/>
                </a:solidFill>
              </a:rPr>
              <a:t>proven</a:t>
            </a:r>
            <a:r>
              <a:rPr sz="1100" dirty="0">
                <a:solidFill>
                  <a:srgbClr val="5B5B5B"/>
                </a:solidFill>
              </a:rPr>
              <a:t> </a:t>
            </a:r>
            <a:r>
              <a:rPr sz="1100" spc="-50" dirty="0">
                <a:solidFill>
                  <a:srgbClr val="5D5D5D"/>
                </a:solidFill>
              </a:rPr>
              <a:t>to</a:t>
            </a:r>
            <a:r>
              <a:rPr sz="1100" spc="-10" dirty="0">
                <a:solidFill>
                  <a:srgbClr val="5D5D5D"/>
                </a:solidFill>
              </a:rPr>
              <a:t> </a:t>
            </a:r>
            <a:r>
              <a:rPr sz="1100" spc="-40" dirty="0">
                <a:solidFill>
                  <a:srgbClr val="5B5B5B"/>
                </a:solidFill>
              </a:rPr>
              <a:t>be</a:t>
            </a:r>
            <a:r>
              <a:rPr sz="1100" spc="-30" dirty="0">
                <a:solidFill>
                  <a:srgbClr val="5B5B5B"/>
                </a:solidFill>
              </a:rPr>
              <a:t> </a:t>
            </a:r>
            <a:r>
              <a:rPr sz="1100" spc="-35" dirty="0">
                <a:solidFill>
                  <a:srgbClr val="5B5B5B"/>
                </a:solidFill>
              </a:rPr>
              <a:t>effective</a:t>
            </a:r>
            <a:r>
              <a:rPr sz="1100" spc="10" dirty="0">
                <a:solidFill>
                  <a:srgbClr val="5B5B5B"/>
                </a:solidFill>
              </a:rPr>
              <a:t> </a:t>
            </a:r>
            <a:r>
              <a:rPr sz="1100" spc="-20" dirty="0">
                <a:solidFill>
                  <a:srgbClr val="5B5B5B"/>
                </a:solidFill>
              </a:rPr>
              <a:t>tools</a:t>
            </a:r>
            <a:r>
              <a:rPr sz="1100" spc="10" dirty="0">
                <a:solidFill>
                  <a:srgbClr val="5B5B5B"/>
                </a:solidFill>
              </a:rPr>
              <a:t> </a:t>
            </a:r>
            <a:r>
              <a:rPr sz="1100" spc="-45" dirty="0">
                <a:solidFill>
                  <a:srgbClr val="5D5D5D"/>
                </a:solidFill>
              </a:rPr>
              <a:t>for </a:t>
            </a:r>
            <a:r>
              <a:rPr sz="1100" spc="-25" dirty="0">
                <a:solidFill>
                  <a:srgbClr val="5B5B5B"/>
                </a:solidFill>
              </a:rPr>
              <a:t>predicting</a:t>
            </a:r>
            <a:r>
              <a:rPr sz="1100" spc="-5" dirty="0">
                <a:solidFill>
                  <a:srgbClr val="5B5B5B"/>
                </a:solidFill>
              </a:rPr>
              <a:t> </a:t>
            </a:r>
            <a:r>
              <a:rPr sz="1100" spc="-30" dirty="0">
                <a:solidFill>
                  <a:srgbClr val="595959"/>
                </a:solidFill>
              </a:rPr>
              <a:t>flight</a:t>
            </a:r>
            <a:r>
              <a:rPr sz="1100" spc="-5" dirty="0">
                <a:solidFill>
                  <a:srgbClr val="595959"/>
                </a:solidFill>
              </a:rPr>
              <a:t> </a:t>
            </a:r>
            <a:r>
              <a:rPr sz="1100" spc="-20" dirty="0">
                <a:solidFill>
                  <a:srgbClr val="595959"/>
                </a:solidFill>
              </a:rPr>
              <a:t>delays,</a:t>
            </a:r>
            <a:r>
              <a:rPr sz="1100" spc="-5" dirty="0">
                <a:solidFill>
                  <a:srgbClr val="595959"/>
                </a:solidFill>
              </a:rPr>
              <a:t> </a:t>
            </a:r>
            <a:r>
              <a:rPr sz="1100" spc="-40" dirty="0">
                <a:solidFill>
                  <a:srgbClr val="595959"/>
                </a:solidFill>
              </a:rPr>
              <a:t>offering</a:t>
            </a:r>
            <a:r>
              <a:rPr sz="1100" spc="-20" dirty="0">
                <a:solidFill>
                  <a:srgbClr val="595959"/>
                </a:solidFill>
              </a:rPr>
              <a:t> </a:t>
            </a:r>
            <a:r>
              <a:rPr sz="1100" spc="-10" dirty="0">
                <a:solidFill>
                  <a:srgbClr val="5B5B5B"/>
                </a:solidFill>
              </a:rPr>
              <a:t>reliable forecasts</a:t>
            </a:r>
            <a:r>
              <a:rPr sz="1050" spc="-10" dirty="0">
                <a:solidFill>
                  <a:srgbClr val="5B5B5B"/>
                </a:solidFill>
              </a:rPr>
              <a:t>.</a:t>
            </a:r>
            <a:endParaRPr sz="1050" dirty="0"/>
          </a:p>
        </p:txBody>
      </p:sp>
      <p:sp>
        <p:nvSpPr>
          <p:cNvPr id="3" name="Rectangle 2"/>
          <p:cNvSpPr/>
          <p:nvPr/>
        </p:nvSpPr>
        <p:spPr>
          <a:xfrm>
            <a:off x="287999" y="990600"/>
            <a:ext cx="784860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Gradient Boosting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Gradient boosting models are highly accurate and handle large, complex data sets with ease, which is beneficial for flight delay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These models work by building trees sequentially, learning from errors made by previous trees. This adaptability leads to strong predictive performance, especially for rare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While often outperforming random forests in terms of accuracy, gradient boosting can require more tuning and may be more computationally intensive.</a:t>
            </a:r>
          </a:p>
          <a:p>
            <a:endParaRPr lang="en-IN" sz="1200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IN" sz="16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Bayesian Statistics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Bayesian models are useful for incorporating prior knowledge or expert judgment about delays, making them suitable when historical patterns or domain knowledge can improve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In flight delay prediction, Bayesian approaches can incorporate weather forecasts and traffic data probabilistically, providing not just a prediction but also a degree of uncertainty, which is crucial in operations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These models can sometimes lack the power of more complex ML models for large-scale prediction but are excellent for making informed decisions under uncertainty.</a:t>
            </a:r>
          </a:p>
          <a:p>
            <a:endParaRPr lang="en-IN" sz="1600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93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3237" y="1652016"/>
            <a:ext cx="2084571" cy="22981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6672" y="329691"/>
            <a:ext cx="7172527" cy="556563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7620">
              <a:lnSpc>
                <a:spcPts val="2350"/>
              </a:lnSpc>
              <a:spcBef>
                <a:spcPts val="420"/>
              </a:spcBef>
            </a:pPr>
            <a:r>
              <a:rPr spc="-140" dirty="0"/>
              <a:t>Advantages</a:t>
            </a:r>
            <a:r>
              <a:rPr spc="85" dirty="0"/>
              <a:t> </a:t>
            </a:r>
            <a:r>
              <a:rPr spc="-155" dirty="0">
                <a:solidFill>
                  <a:srgbClr val="242424"/>
                </a:solidFill>
              </a:rPr>
              <a:t>and</a:t>
            </a:r>
            <a:r>
              <a:rPr spc="-15" dirty="0">
                <a:solidFill>
                  <a:srgbClr val="242424"/>
                </a:solidFill>
              </a:rPr>
              <a:t> </a:t>
            </a:r>
            <a:r>
              <a:rPr spc="-125" dirty="0"/>
              <a:t>Disadvantages</a:t>
            </a:r>
            <a:r>
              <a:rPr spc="95" dirty="0"/>
              <a:t> </a:t>
            </a:r>
            <a:r>
              <a:rPr spc="-210" dirty="0">
                <a:solidFill>
                  <a:srgbClr val="262626"/>
                </a:solidFill>
              </a:rPr>
              <a:t>of</a:t>
            </a:r>
            <a:r>
              <a:rPr dirty="0">
                <a:solidFill>
                  <a:srgbClr val="262626"/>
                </a:solidFill>
              </a:rPr>
              <a:t> </a:t>
            </a:r>
            <a:r>
              <a:rPr spc="-110" dirty="0">
                <a:solidFill>
                  <a:srgbClr val="262626"/>
                </a:solidFill>
              </a:rPr>
              <a:t>the </a:t>
            </a:r>
            <a:r>
              <a:rPr spc="-50" dirty="0"/>
              <a:t>Application</a:t>
            </a: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1100" spc="-25" dirty="0">
                <a:solidFill>
                  <a:srgbClr val="565656"/>
                </a:solidFill>
              </a:rPr>
              <a:t>Exploring</a:t>
            </a:r>
            <a:r>
              <a:rPr sz="1100" spc="-10" dirty="0">
                <a:solidFill>
                  <a:srgbClr val="565656"/>
                </a:solidFill>
              </a:rPr>
              <a:t> </a:t>
            </a:r>
            <a:r>
              <a:rPr sz="1100" spc="-40" dirty="0">
                <a:solidFill>
                  <a:srgbClr val="595959"/>
                </a:solidFill>
              </a:rPr>
              <a:t>the</a:t>
            </a:r>
            <a:r>
              <a:rPr sz="1100" spc="-20" dirty="0">
                <a:solidFill>
                  <a:srgbClr val="595959"/>
                </a:solidFill>
              </a:rPr>
              <a:t> </a:t>
            </a:r>
            <a:r>
              <a:rPr sz="1100" spc="-20" dirty="0">
                <a:solidFill>
                  <a:srgbClr val="5B5B5B"/>
                </a:solidFill>
              </a:rPr>
              <a:t>pros</a:t>
            </a:r>
            <a:r>
              <a:rPr sz="1100" spc="-15" dirty="0">
                <a:solidFill>
                  <a:srgbClr val="5B5B5B"/>
                </a:solidFill>
              </a:rPr>
              <a:t> </a:t>
            </a:r>
            <a:r>
              <a:rPr sz="1100" spc="-30" dirty="0">
                <a:solidFill>
                  <a:srgbClr val="595959"/>
                </a:solidFill>
              </a:rPr>
              <a:t>and</a:t>
            </a:r>
            <a:r>
              <a:rPr sz="1100" spc="-20" dirty="0">
                <a:solidFill>
                  <a:srgbClr val="595959"/>
                </a:solidFill>
              </a:rPr>
              <a:t> </a:t>
            </a:r>
            <a:r>
              <a:rPr sz="1100" spc="-20" dirty="0">
                <a:solidFill>
                  <a:srgbClr val="5B5B5B"/>
                </a:solidFill>
              </a:rPr>
              <a:t>cons</a:t>
            </a:r>
            <a:r>
              <a:rPr sz="1100" spc="-15" dirty="0">
                <a:solidFill>
                  <a:srgbClr val="5B5B5B"/>
                </a:solidFill>
              </a:rPr>
              <a:t> </a:t>
            </a:r>
            <a:r>
              <a:rPr sz="1100" spc="-65" dirty="0">
                <a:solidFill>
                  <a:srgbClr val="5B5B5B"/>
                </a:solidFill>
              </a:rPr>
              <a:t>of</a:t>
            </a:r>
            <a:r>
              <a:rPr sz="1100" dirty="0">
                <a:solidFill>
                  <a:srgbClr val="5B5B5B"/>
                </a:solidFill>
              </a:rPr>
              <a:t> </a:t>
            </a:r>
            <a:r>
              <a:rPr sz="1100" spc="-25" dirty="0">
                <a:solidFill>
                  <a:srgbClr val="5B5B5B"/>
                </a:solidFill>
              </a:rPr>
              <a:t>machine</a:t>
            </a:r>
            <a:r>
              <a:rPr sz="1100" spc="25" dirty="0">
                <a:solidFill>
                  <a:srgbClr val="5B5B5B"/>
                </a:solidFill>
              </a:rPr>
              <a:t> </a:t>
            </a:r>
            <a:r>
              <a:rPr sz="1100" spc="-30" dirty="0">
                <a:solidFill>
                  <a:srgbClr val="5B5B5B"/>
                </a:solidFill>
              </a:rPr>
              <a:t>learning</a:t>
            </a:r>
            <a:r>
              <a:rPr sz="1100" spc="-15" dirty="0">
                <a:solidFill>
                  <a:srgbClr val="5B5B5B"/>
                </a:solidFill>
              </a:rPr>
              <a:t> </a:t>
            </a:r>
            <a:r>
              <a:rPr sz="1100" spc="-20" dirty="0">
                <a:solidFill>
                  <a:srgbClr val="5B5B5B"/>
                </a:solidFill>
              </a:rPr>
              <a:t>in</a:t>
            </a:r>
            <a:r>
              <a:rPr sz="1100" spc="-35" dirty="0">
                <a:solidFill>
                  <a:srgbClr val="5B5B5B"/>
                </a:solidFill>
              </a:rPr>
              <a:t> </a:t>
            </a:r>
            <a:r>
              <a:rPr sz="1100" spc="-30" dirty="0">
                <a:solidFill>
                  <a:srgbClr val="595959"/>
                </a:solidFill>
              </a:rPr>
              <a:t>flight</a:t>
            </a:r>
            <a:r>
              <a:rPr sz="1100" spc="-20" dirty="0">
                <a:solidFill>
                  <a:srgbClr val="595959"/>
                </a:solidFill>
              </a:rPr>
              <a:t> </a:t>
            </a:r>
            <a:r>
              <a:rPr sz="1100" spc="-20" dirty="0">
                <a:solidFill>
                  <a:srgbClr val="5B5B5B"/>
                </a:solidFill>
              </a:rPr>
              <a:t>delay</a:t>
            </a:r>
            <a:r>
              <a:rPr sz="1100" spc="-5" dirty="0">
                <a:solidFill>
                  <a:srgbClr val="5B5B5B"/>
                </a:solidFill>
              </a:rPr>
              <a:t> </a:t>
            </a:r>
            <a:r>
              <a:rPr sz="1100" spc="-10" dirty="0">
                <a:solidFill>
                  <a:srgbClr val="595959"/>
                </a:solidFill>
              </a:rPr>
              <a:t>prediction</a:t>
            </a:r>
            <a:endParaRPr sz="1100" dirty="0"/>
          </a:p>
        </p:txBody>
      </p:sp>
      <p:sp>
        <p:nvSpPr>
          <p:cNvPr id="5" name="object 5"/>
          <p:cNvSpPr txBox="1"/>
          <p:nvPr/>
        </p:nvSpPr>
        <p:spPr>
          <a:xfrm>
            <a:off x="101599" y="1403260"/>
            <a:ext cx="2921637" cy="315875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8905" marR="6350" indent="1223645" algn="r">
              <a:lnSpc>
                <a:spcPct val="130800"/>
              </a:lnSpc>
              <a:spcBef>
                <a:spcPts val="250"/>
              </a:spcBef>
            </a:pPr>
            <a:r>
              <a:rPr sz="1200" b="1" spc="10" dirty="0">
                <a:solidFill>
                  <a:srgbClr val="242424"/>
                </a:solidFill>
                <a:latin typeface="Calibri"/>
                <a:cs typeface="Calibri"/>
              </a:rPr>
              <a:t>Enhanced</a:t>
            </a:r>
            <a:r>
              <a:rPr sz="1200" b="1" spc="14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42424"/>
                </a:solidFill>
                <a:latin typeface="Calibri"/>
                <a:cs typeface="Calibri"/>
              </a:rPr>
              <a:t>accuracy </a:t>
            </a:r>
            <a:r>
              <a:rPr sz="1100" spc="-10" dirty="0">
                <a:solidFill>
                  <a:srgbClr val="212121"/>
                </a:solidFill>
                <a:latin typeface="Calibri"/>
                <a:cs typeface="Calibri"/>
              </a:rPr>
              <a:t>Machine</a:t>
            </a:r>
            <a:r>
              <a:rPr sz="1100" spc="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learning</a:t>
            </a:r>
            <a:r>
              <a:rPr sz="11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32323"/>
                </a:solidFill>
                <a:latin typeface="Calibri"/>
                <a:cs typeface="Calibri"/>
              </a:rPr>
              <a:t>models</a:t>
            </a:r>
            <a:r>
              <a:rPr sz="1100" spc="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32323"/>
                </a:solidFill>
                <a:latin typeface="Calibri"/>
                <a:cs typeface="Calibri"/>
              </a:rPr>
              <a:t>can</a:t>
            </a:r>
            <a:r>
              <a:rPr sz="11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Calibri"/>
                <a:cs typeface="Calibri"/>
              </a:rPr>
              <a:t>significantly</a:t>
            </a:r>
            <a:r>
              <a:rPr sz="1100" spc="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improve</a:t>
            </a:r>
            <a:r>
              <a:rPr sz="1100" spc="5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Calibri"/>
                <a:cs typeface="Calibri"/>
              </a:rPr>
              <a:t>prediction</a:t>
            </a:r>
            <a:r>
              <a:rPr sz="11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121"/>
                </a:solidFill>
                <a:latin typeface="Calibri"/>
                <a:cs typeface="Calibri"/>
              </a:rPr>
              <a:t>accuracy</a:t>
            </a:r>
            <a:r>
              <a:rPr sz="1100" spc="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32323"/>
                </a:solidFill>
                <a:latin typeface="Calibri"/>
                <a:cs typeface="Calibri"/>
              </a:rPr>
              <a:t>compared</a:t>
            </a:r>
            <a:r>
              <a:rPr sz="11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to</a:t>
            </a:r>
            <a:r>
              <a:rPr sz="1100" spc="-4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traditional</a:t>
            </a:r>
            <a:endParaRPr sz="1100" dirty="0">
              <a:latin typeface="Calibri"/>
              <a:cs typeface="Calibri"/>
            </a:endParaRPr>
          </a:p>
          <a:p>
            <a:pPr marR="14604" algn="r">
              <a:lnSpc>
                <a:spcPct val="100000"/>
              </a:lnSpc>
              <a:spcBef>
                <a:spcPts val="180"/>
              </a:spcBef>
            </a:pP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methods.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850" dirty="0">
              <a:latin typeface="Calibri"/>
              <a:cs typeface="Calibri"/>
            </a:endParaRPr>
          </a:p>
          <a:p>
            <a:pPr marR="6985" algn="r">
              <a:lnSpc>
                <a:spcPct val="100000"/>
              </a:lnSpc>
            </a:pPr>
            <a:r>
              <a:rPr sz="1200" b="1" dirty="0">
                <a:solidFill>
                  <a:srgbClr val="212121"/>
                </a:solidFill>
                <a:latin typeface="Calibri"/>
                <a:cs typeface="Calibri"/>
              </a:rPr>
              <a:t>Need</a:t>
            </a:r>
            <a:r>
              <a:rPr sz="1200" b="1" spc="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1200" b="1" spc="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12121"/>
                </a:solidFill>
                <a:latin typeface="Calibri"/>
                <a:cs typeface="Calibri"/>
              </a:rPr>
              <a:t>continuous</a:t>
            </a:r>
            <a:r>
              <a:rPr sz="1200" b="1" spc="1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32323"/>
                </a:solidFill>
                <a:latin typeface="Calibri"/>
                <a:cs typeface="Calibri"/>
              </a:rPr>
              <a:t>updates</a:t>
            </a:r>
            <a:endParaRPr sz="1200" b="1" dirty="0">
              <a:latin typeface="Calibri"/>
              <a:cs typeface="Calibri"/>
            </a:endParaRPr>
          </a:p>
          <a:p>
            <a:pPr marL="282575" marR="8890" indent="-247015" algn="r">
              <a:lnSpc>
                <a:spcPct val="117600"/>
              </a:lnSpc>
              <a:spcBef>
                <a:spcPts val="295"/>
              </a:spcBef>
            </a:pPr>
            <a:r>
              <a:rPr lang="en-IN" sz="1100" spc="-45" dirty="0">
                <a:solidFill>
                  <a:srgbClr val="232323"/>
                </a:solidFill>
                <a:latin typeface="Calibri"/>
                <a:cs typeface="Calibri"/>
              </a:rPr>
              <a:t>M</a:t>
            </a:r>
            <a:r>
              <a:rPr sz="1100" spc="-45" dirty="0" err="1" smtClean="0">
                <a:solidFill>
                  <a:srgbClr val="232323"/>
                </a:solidFill>
                <a:latin typeface="Calibri"/>
                <a:cs typeface="Calibri"/>
              </a:rPr>
              <a:t>odels</a:t>
            </a:r>
            <a:r>
              <a:rPr sz="1100" spc="40" dirty="0" smtClean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require</a:t>
            </a:r>
            <a:r>
              <a:rPr sz="1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regular</a:t>
            </a: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121"/>
                </a:solidFill>
                <a:latin typeface="Calibri"/>
                <a:cs typeface="Calibri"/>
              </a:rPr>
              <a:t>updates</a:t>
            </a:r>
            <a:r>
              <a:rPr sz="1100" spc="-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to</a:t>
            </a:r>
            <a:r>
              <a:rPr sz="11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maintain</a:t>
            </a:r>
            <a:r>
              <a:rPr sz="1100" spc="-2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10" dirty="0" smtClean="0">
                <a:solidFill>
                  <a:srgbClr val="212121"/>
                </a:solidFill>
                <a:latin typeface="Calibri"/>
                <a:cs typeface="Calibri"/>
              </a:rPr>
              <a:t>accuracy</a:t>
            </a:r>
            <a:r>
              <a:rPr lang="en-IN" sz="1100" spc="5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 smtClean="0">
                <a:solidFill>
                  <a:srgbClr val="242424"/>
                </a:solidFill>
                <a:latin typeface="Calibri"/>
                <a:cs typeface="Calibri"/>
              </a:rPr>
              <a:t>as</a:t>
            </a:r>
            <a:r>
              <a:rPr sz="1100" spc="-25" dirty="0" smtClean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Calibri"/>
                <a:cs typeface="Calibri"/>
              </a:rPr>
              <a:t>flight</a:t>
            </a:r>
            <a:r>
              <a:rPr sz="1100" spc="-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patterns</a:t>
            </a:r>
            <a:r>
              <a:rPr sz="11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42424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factors</a:t>
            </a:r>
            <a:r>
              <a:rPr sz="11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32323"/>
                </a:solidFill>
                <a:latin typeface="Calibri"/>
                <a:cs typeface="Calibri"/>
              </a:rPr>
              <a:t>change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32323"/>
                </a:solidFill>
                <a:latin typeface="Calibri"/>
                <a:cs typeface="Calibri"/>
              </a:rPr>
              <a:t>over</a:t>
            </a:r>
            <a:r>
              <a:rPr sz="11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Calibri"/>
                <a:cs typeface="Calibri"/>
              </a:rPr>
              <a:t>time</a:t>
            </a:r>
            <a:r>
              <a:rPr sz="850" spc="-10" dirty="0">
                <a:solidFill>
                  <a:srgbClr val="212121"/>
                </a:solidFill>
                <a:latin typeface="Calibri"/>
                <a:cs typeface="Calibri"/>
              </a:rPr>
              <a:t>.</a:t>
            </a:r>
            <a:endParaRPr sz="8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850" dirty="0">
              <a:latin typeface="Calibri"/>
              <a:cs typeface="Calibri"/>
            </a:endParaRPr>
          </a:p>
          <a:p>
            <a:pPr marL="12700" indent="1431925" algn="r">
              <a:lnSpc>
                <a:spcPct val="100000"/>
              </a:lnSpc>
            </a:pPr>
            <a:r>
              <a:rPr lang="en-IN" sz="1200" b="1" dirty="0" smtClean="0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sz="1200" b="1" spc="-10" dirty="0" err="1" smtClean="0">
                <a:solidFill>
                  <a:srgbClr val="212121"/>
                </a:solidFill>
                <a:latin typeface="Calibri"/>
                <a:cs typeface="Calibri"/>
              </a:rPr>
              <a:t>omplexity</a:t>
            </a:r>
            <a:endParaRPr sz="1200" b="1" dirty="0" smtClean="0">
              <a:latin typeface="Calibri"/>
              <a:cs typeface="Calibri"/>
            </a:endParaRPr>
          </a:p>
          <a:p>
            <a:pPr marL="26670" marR="5080" indent="-14604" algn="r">
              <a:lnSpc>
                <a:spcPct val="113300"/>
              </a:lnSpc>
              <a:spcBef>
                <a:spcPts val="280"/>
              </a:spcBef>
            </a:pPr>
            <a:r>
              <a:rPr sz="1100" spc="-35" dirty="0" smtClean="0">
                <a:solidFill>
                  <a:srgbClr val="242424"/>
                </a:solidFill>
                <a:latin typeface="Calibri"/>
                <a:cs typeface="Calibri"/>
              </a:rPr>
              <a:t>The</a:t>
            </a:r>
            <a:r>
              <a:rPr sz="1100" dirty="0" smtClean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30" dirty="0" smtClean="0">
                <a:solidFill>
                  <a:srgbClr val="212121"/>
                </a:solidFill>
                <a:latin typeface="Calibri"/>
                <a:cs typeface="Calibri"/>
              </a:rPr>
              <a:t>complexity</a:t>
            </a:r>
            <a:r>
              <a:rPr sz="1100" spc="40" dirty="0" smtClean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60" dirty="0" smtClean="0">
                <a:solidFill>
                  <a:srgbClr val="242424"/>
                </a:solidFill>
                <a:latin typeface="Calibri"/>
                <a:cs typeface="Calibri"/>
              </a:rPr>
              <a:t>of</a:t>
            </a:r>
            <a:r>
              <a:rPr sz="1100" spc="15" dirty="0" smtClean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35" dirty="0" smtClean="0">
                <a:solidFill>
                  <a:srgbClr val="232323"/>
                </a:solidFill>
                <a:latin typeface="Calibri"/>
                <a:cs typeface="Calibri"/>
              </a:rPr>
              <a:t>machine</a:t>
            </a:r>
            <a:r>
              <a:rPr sz="1100" spc="5" dirty="0" smtClean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 smtClean="0">
                <a:solidFill>
                  <a:srgbClr val="212121"/>
                </a:solidFill>
                <a:latin typeface="Calibri"/>
                <a:cs typeface="Calibri"/>
              </a:rPr>
              <a:t>learning</a:t>
            </a:r>
            <a:r>
              <a:rPr sz="1100" spc="-25" dirty="0" smtClean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25" dirty="0" smtClean="0">
                <a:solidFill>
                  <a:srgbClr val="1F1F1F"/>
                </a:solidFill>
                <a:latin typeface="Calibri"/>
                <a:cs typeface="Calibri"/>
              </a:rPr>
              <a:t>models</a:t>
            </a:r>
            <a:r>
              <a:rPr sz="1100" spc="35" dirty="0" smtClean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00" spc="-10" dirty="0" smtClean="0">
                <a:solidFill>
                  <a:srgbClr val="232323"/>
                </a:solidFill>
                <a:latin typeface="Calibri"/>
                <a:cs typeface="Calibri"/>
              </a:rPr>
              <a:t>can</a:t>
            </a:r>
            <a:r>
              <a:rPr sz="1100" spc="-15" dirty="0" smtClean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20" dirty="0" smtClean="0">
                <a:solidFill>
                  <a:srgbClr val="232323"/>
                </a:solidFill>
                <a:latin typeface="Calibri"/>
                <a:cs typeface="Calibri"/>
              </a:rPr>
              <a:t>pose</a:t>
            </a:r>
            <a:r>
              <a:rPr sz="1100" spc="500" dirty="0" smtClean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20" dirty="0" smtClean="0">
                <a:solidFill>
                  <a:srgbClr val="212121"/>
                </a:solidFill>
                <a:latin typeface="Calibri"/>
                <a:cs typeface="Calibri"/>
              </a:rPr>
              <a:t>challenges</a:t>
            </a:r>
            <a:r>
              <a:rPr sz="1100" spc="45" dirty="0" smtClean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55" dirty="0" smtClean="0">
                <a:solidFill>
                  <a:srgbClr val="232323"/>
                </a:solidFill>
                <a:latin typeface="Calibri"/>
                <a:cs typeface="Calibri"/>
              </a:rPr>
              <a:t>in</a:t>
            </a:r>
            <a:r>
              <a:rPr sz="1100" spc="-15" dirty="0" smtClean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5" dirty="0" smtClean="0">
                <a:solidFill>
                  <a:srgbClr val="212121"/>
                </a:solidFill>
                <a:latin typeface="Calibri"/>
                <a:cs typeface="Calibri"/>
              </a:rPr>
              <a:t>understanding</a:t>
            </a:r>
            <a:r>
              <a:rPr sz="1100" spc="80" dirty="0" smtClean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20" dirty="0" smtClean="0">
                <a:solidFill>
                  <a:srgbClr val="212121"/>
                </a:solidFill>
                <a:latin typeface="Calibri"/>
                <a:cs typeface="Calibri"/>
              </a:rPr>
              <a:t>and</a:t>
            </a:r>
            <a:r>
              <a:rPr sz="1100" dirty="0" smtClean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40" dirty="0" smtClean="0">
                <a:solidFill>
                  <a:srgbClr val="212121"/>
                </a:solidFill>
                <a:latin typeface="Calibri"/>
                <a:cs typeface="Calibri"/>
              </a:rPr>
              <a:t>interpreting</a:t>
            </a:r>
            <a:r>
              <a:rPr sz="1100" spc="50" dirty="0" smtClean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10" dirty="0" smtClean="0">
                <a:solidFill>
                  <a:srgbClr val="232323"/>
                </a:solidFill>
                <a:latin typeface="Calibri"/>
                <a:cs typeface="Calibri"/>
              </a:rPr>
              <a:t>results.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3200" y="1403260"/>
            <a:ext cx="2365375" cy="2805192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555"/>
              </a:spcBef>
            </a:pPr>
            <a:r>
              <a:rPr sz="1200" b="1" spc="50" dirty="0">
                <a:solidFill>
                  <a:srgbClr val="262626"/>
                </a:solidFill>
                <a:latin typeface="Calibri"/>
                <a:cs typeface="Calibri"/>
              </a:rPr>
              <a:t>Cost</a:t>
            </a:r>
            <a:r>
              <a:rPr sz="1200" b="1" spc="-1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42424"/>
                </a:solidFill>
                <a:latin typeface="Calibri"/>
                <a:cs typeface="Calibri"/>
              </a:rPr>
              <a:t>savings</a:t>
            </a:r>
            <a:endParaRPr sz="1200" b="1" dirty="0">
              <a:latin typeface="Calibri"/>
              <a:cs typeface="Calibri"/>
            </a:endParaRPr>
          </a:p>
          <a:p>
            <a:pPr marL="17145" marR="253365" indent="-1270">
              <a:lnSpc>
                <a:spcPct val="113300"/>
              </a:lnSpc>
              <a:spcBef>
                <a:spcPts val="310"/>
              </a:spcBef>
            </a:pPr>
            <a:r>
              <a:rPr sz="1050" dirty="0">
                <a:solidFill>
                  <a:srgbClr val="242424"/>
                </a:solidFill>
                <a:latin typeface="Calibri"/>
                <a:cs typeface="Calibri"/>
              </a:rPr>
              <a:t>By</a:t>
            </a:r>
            <a:r>
              <a:rPr sz="1050" spc="-4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050" spc="-35" dirty="0">
                <a:solidFill>
                  <a:srgbClr val="232323"/>
                </a:solidFill>
                <a:latin typeface="Calibri"/>
                <a:cs typeface="Calibri"/>
              </a:rPr>
              <a:t>optimizing</a:t>
            </a:r>
            <a:r>
              <a:rPr sz="105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232323"/>
                </a:solidFill>
                <a:latin typeface="Calibri"/>
                <a:cs typeface="Calibri"/>
              </a:rPr>
              <a:t>resources</a:t>
            </a:r>
            <a:r>
              <a:rPr sz="105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262626"/>
                </a:solidFill>
                <a:latin typeface="Calibri"/>
                <a:cs typeface="Calibri"/>
              </a:rPr>
              <a:t>and</a:t>
            </a:r>
            <a:r>
              <a:rPr sz="105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050" spc="-35" dirty="0">
                <a:solidFill>
                  <a:srgbClr val="262626"/>
                </a:solidFill>
                <a:latin typeface="Calibri"/>
                <a:cs typeface="Calibri"/>
              </a:rPr>
              <a:t>minimizing</a:t>
            </a:r>
            <a:r>
              <a:rPr sz="1050" spc="-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232323"/>
                </a:solidFill>
                <a:latin typeface="Calibri"/>
                <a:cs typeface="Calibri"/>
              </a:rPr>
              <a:t>delays,</a:t>
            </a:r>
            <a:r>
              <a:rPr sz="1050" spc="5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50" spc="-35" dirty="0">
                <a:solidFill>
                  <a:srgbClr val="232323"/>
                </a:solidFill>
                <a:latin typeface="Calibri"/>
                <a:cs typeface="Calibri"/>
              </a:rPr>
              <a:t>machine</a:t>
            </a:r>
            <a:r>
              <a:rPr sz="105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50" spc="-30" dirty="0">
                <a:solidFill>
                  <a:srgbClr val="242424"/>
                </a:solidFill>
                <a:latin typeface="Calibri"/>
                <a:cs typeface="Calibri"/>
              </a:rPr>
              <a:t>learning</a:t>
            </a:r>
            <a:r>
              <a:rPr sz="1050" spc="-2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62626"/>
                </a:solidFill>
                <a:latin typeface="Calibri"/>
                <a:cs typeface="Calibri"/>
              </a:rPr>
              <a:t>can</a:t>
            </a:r>
            <a:r>
              <a:rPr sz="1050" spc="-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262626"/>
                </a:solidFill>
                <a:latin typeface="Calibri"/>
                <a:cs typeface="Calibri"/>
              </a:rPr>
              <a:t>lead</a:t>
            </a:r>
            <a:r>
              <a:rPr sz="1050" spc="-1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050" spc="-40" dirty="0">
                <a:solidFill>
                  <a:srgbClr val="242424"/>
                </a:solidFill>
                <a:latin typeface="Calibri"/>
                <a:cs typeface="Calibri"/>
              </a:rPr>
              <a:t>to</a:t>
            </a:r>
            <a:r>
              <a:rPr sz="1050" spc="-1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232323"/>
                </a:solidFill>
                <a:latin typeface="Calibri"/>
                <a:cs typeface="Calibri"/>
              </a:rPr>
              <a:t>substantial</a:t>
            </a:r>
            <a:r>
              <a:rPr sz="105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212121"/>
                </a:solidFill>
                <a:latin typeface="Calibri"/>
                <a:cs typeface="Calibri"/>
              </a:rPr>
              <a:t>cost</a:t>
            </a:r>
            <a:r>
              <a:rPr sz="1050" spc="5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232323"/>
                </a:solidFill>
                <a:latin typeface="Calibri"/>
                <a:cs typeface="Calibri"/>
              </a:rPr>
              <a:t>reductions.</a:t>
            </a:r>
            <a:endParaRPr sz="1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232323"/>
                </a:solidFill>
                <a:latin typeface="Calibri"/>
                <a:cs typeface="Calibri"/>
              </a:rPr>
              <a:t>Improved</a:t>
            </a:r>
            <a:r>
              <a:rPr sz="1200" b="1" spc="2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42424"/>
                </a:solidFill>
                <a:latin typeface="Calibri"/>
                <a:cs typeface="Calibri"/>
              </a:rPr>
              <a:t>customer</a:t>
            </a:r>
            <a:r>
              <a:rPr sz="1200" b="1" spc="22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32323"/>
                </a:solidFill>
                <a:latin typeface="Calibri"/>
                <a:cs typeface="Calibri"/>
              </a:rPr>
              <a:t>satisfaction</a:t>
            </a:r>
            <a:endParaRPr sz="1200" b="1" dirty="0">
              <a:latin typeface="Calibri"/>
              <a:cs typeface="Calibri"/>
            </a:endParaRPr>
          </a:p>
          <a:p>
            <a:pPr marL="13970" marR="5080" indent="3175">
              <a:lnSpc>
                <a:spcPct val="113300"/>
              </a:lnSpc>
              <a:spcBef>
                <a:spcPts val="254"/>
              </a:spcBef>
            </a:pP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Accurate</a:t>
            </a:r>
            <a:r>
              <a:rPr sz="1100" spc="-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12121"/>
                </a:solidFill>
                <a:latin typeface="Calibri"/>
                <a:cs typeface="Calibri"/>
              </a:rPr>
              <a:t>predictions</a:t>
            </a:r>
            <a:r>
              <a:rPr sz="1100" spc="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enhance</a:t>
            </a:r>
            <a:r>
              <a:rPr sz="1100" spc="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passenger</a:t>
            </a:r>
            <a:r>
              <a:rPr sz="1100" spc="5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32323"/>
                </a:solidFill>
                <a:latin typeface="Calibri"/>
                <a:cs typeface="Calibri"/>
              </a:rPr>
              <a:t>experience</a:t>
            </a:r>
            <a:r>
              <a:rPr sz="11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42424"/>
                </a:solidFill>
                <a:latin typeface="Calibri"/>
                <a:cs typeface="Calibri"/>
              </a:rPr>
              <a:t>by</a:t>
            </a:r>
            <a:r>
              <a:rPr sz="1100" spc="-4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32323"/>
                </a:solidFill>
                <a:latin typeface="Calibri"/>
                <a:cs typeface="Calibri"/>
              </a:rPr>
              <a:t>providing</a:t>
            </a:r>
            <a:r>
              <a:rPr sz="1100" spc="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12121"/>
                </a:solidFill>
                <a:latin typeface="Calibri"/>
                <a:cs typeface="Calibri"/>
              </a:rPr>
              <a:t>timely</a:t>
            </a:r>
            <a:r>
              <a:rPr sz="11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12121"/>
                </a:solidFill>
                <a:latin typeface="Calibri"/>
                <a:cs typeface="Calibri"/>
              </a:rPr>
              <a:t>updates</a:t>
            </a:r>
            <a:r>
              <a:rPr sz="1100" spc="-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 reducing</a:t>
            </a:r>
            <a:r>
              <a:rPr sz="1100" spc="5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frustration.</a:t>
            </a:r>
            <a:endParaRPr sz="11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900" dirty="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</a:pPr>
            <a:r>
              <a:rPr sz="1200" b="1" spc="10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1200" b="1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62626"/>
                </a:solidFill>
                <a:latin typeface="Calibri"/>
                <a:cs typeface="Calibri"/>
              </a:rPr>
              <a:t>quality</a:t>
            </a:r>
            <a:endParaRPr sz="1200" b="1" dirty="0">
              <a:latin typeface="Calibri"/>
              <a:cs typeface="Calibri"/>
            </a:endParaRPr>
          </a:p>
          <a:p>
            <a:pPr marL="17145" marR="52069" indent="-1270">
              <a:lnSpc>
                <a:spcPct val="115599"/>
              </a:lnSpc>
              <a:spcBef>
                <a:spcPts val="229"/>
              </a:spcBef>
            </a:pPr>
            <a:r>
              <a:rPr sz="1100" spc="-40" dirty="0">
                <a:solidFill>
                  <a:srgbClr val="232323"/>
                </a:solidFill>
                <a:latin typeface="Calibri"/>
                <a:cs typeface="Calibri"/>
              </a:rPr>
              <a:t>High-</a:t>
            </a: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quality,</a:t>
            </a:r>
            <a:r>
              <a:rPr sz="1100" spc="8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32323"/>
                </a:solidFill>
                <a:latin typeface="Calibri"/>
                <a:cs typeface="Calibri"/>
              </a:rPr>
              <a:t>reliable</a:t>
            </a:r>
            <a:r>
              <a:rPr sz="1100" spc="1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data</a:t>
            </a:r>
            <a:r>
              <a:rPr sz="11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62626"/>
                </a:solidFill>
                <a:latin typeface="Calibri"/>
                <a:cs typeface="Calibri"/>
              </a:rPr>
              <a:t>is</a:t>
            </a:r>
            <a:r>
              <a:rPr sz="1100" spc="-4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42424"/>
                </a:solidFill>
                <a:latin typeface="Calibri"/>
                <a:cs typeface="Calibri"/>
              </a:rPr>
              <a:t>crucial </a:t>
            </a:r>
            <a:r>
              <a:rPr sz="1100" spc="-40" dirty="0">
                <a:solidFill>
                  <a:srgbClr val="242424"/>
                </a:solidFill>
                <a:latin typeface="Calibri"/>
                <a:cs typeface="Calibri"/>
              </a:rPr>
              <a:t>for</a:t>
            </a:r>
            <a:r>
              <a:rPr sz="1100" spc="-2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effective</a:t>
            </a:r>
            <a:r>
              <a:rPr sz="1100" spc="5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32323"/>
                </a:solidFill>
                <a:latin typeface="Calibri"/>
                <a:cs typeface="Calibri"/>
              </a:rPr>
              <a:t>machine</a:t>
            </a:r>
            <a:r>
              <a:rPr sz="1100" spc="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12121"/>
                </a:solidFill>
                <a:latin typeface="Calibri"/>
                <a:cs typeface="Calibri"/>
              </a:rPr>
              <a:t>learning</a:t>
            </a:r>
            <a:r>
              <a:rPr sz="1100" spc="-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262626"/>
                </a:solidFill>
                <a:latin typeface="Calibri"/>
                <a:cs typeface="Calibri"/>
              </a:rPr>
              <a:t>model</a:t>
            </a:r>
            <a:r>
              <a:rPr sz="1100" spc="-4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232323"/>
                </a:solidFill>
                <a:latin typeface="Calibri"/>
                <a:cs typeface="Calibri"/>
              </a:rPr>
              <a:t>performance</a:t>
            </a:r>
            <a:r>
              <a:rPr sz="1100" spc="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232323"/>
                </a:solidFill>
                <a:latin typeface="Calibri"/>
                <a:cs typeface="Calibri"/>
              </a:rPr>
              <a:t>and </a:t>
            </a:r>
            <a:r>
              <a:rPr sz="1100" spc="-10" dirty="0">
                <a:solidFill>
                  <a:srgbClr val="232323"/>
                </a:solidFill>
                <a:latin typeface="Calibri"/>
                <a:cs typeface="Calibri"/>
              </a:rPr>
              <a:t>accuracy</a:t>
            </a:r>
            <a:r>
              <a:rPr sz="900" spc="-10" dirty="0">
                <a:solidFill>
                  <a:srgbClr val="232323"/>
                </a:solidFill>
                <a:latin typeface="Calibri"/>
                <a:cs typeface="Calibri"/>
              </a:rPr>
              <a:t>.</a:t>
            </a:r>
            <a:endParaRPr sz="9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95883" y="1624838"/>
            <a:ext cx="3935729" cy="100232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7145" marR="5080" indent="-5080">
              <a:lnSpc>
                <a:spcPts val="3460"/>
              </a:lnSpc>
              <a:spcBef>
                <a:spcPts val="780"/>
              </a:spcBef>
            </a:pPr>
            <a:r>
              <a:rPr sz="3450" spc="-35" dirty="0">
                <a:solidFill>
                  <a:srgbClr val="262626"/>
                </a:solidFill>
                <a:latin typeface="Calibri"/>
                <a:cs typeface="Calibri"/>
              </a:rPr>
              <a:t>Unlock</a:t>
            </a:r>
            <a:r>
              <a:rPr sz="3450" spc="-12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450" spc="-90" dirty="0">
                <a:solidFill>
                  <a:srgbClr val="262626"/>
                </a:solidFill>
                <a:latin typeface="Calibri"/>
                <a:cs typeface="Calibri"/>
              </a:rPr>
              <a:t>the</a:t>
            </a:r>
            <a:r>
              <a:rPr sz="3450" spc="-10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450" spc="-80" dirty="0">
                <a:solidFill>
                  <a:srgbClr val="262626"/>
                </a:solidFill>
                <a:latin typeface="Calibri"/>
                <a:cs typeface="Calibri"/>
              </a:rPr>
              <a:t>Future</a:t>
            </a:r>
            <a:r>
              <a:rPr sz="3450" spc="-10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450" spc="-25" dirty="0">
                <a:solidFill>
                  <a:srgbClr val="262626"/>
                </a:solidFill>
                <a:latin typeface="Calibri"/>
                <a:cs typeface="Calibri"/>
              </a:rPr>
              <a:t>of </a:t>
            </a:r>
            <a:r>
              <a:rPr sz="3450" spc="-100" dirty="0">
                <a:solidFill>
                  <a:srgbClr val="262626"/>
                </a:solidFill>
                <a:latin typeface="Calibri"/>
                <a:cs typeface="Calibri"/>
              </a:rPr>
              <a:t>Air</a:t>
            </a:r>
            <a:r>
              <a:rPr sz="3450" spc="-6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450" spc="-75" dirty="0">
                <a:solidFill>
                  <a:srgbClr val="262626"/>
                </a:solidFill>
                <a:latin typeface="Calibri"/>
                <a:cs typeface="Calibri"/>
              </a:rPr>
              <a:t>Travel</a:t>
            </a:r>
            <a:r>
              <a:rPr sz="3450" spc="-11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3450" spc="-140" dirty="0" smtClean="0">
                <a:solidFill>
                  <a:srgbClr val="232323"/>
                </a:solidFill>
                <a:latin typeface="Calibri"/>
                <a:cs typeface="Calibri"/>
              </a:rPr>
              <a:t>Management</a:t>
            </a:r>
            <a:endParaRPr sz="3450" dirty="0">
              <a:latin typeface="Calibri"/>
              <a:cs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0" y="152400"/>
            <a:ext cx="3038475" cy="3800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Words>1178</Words>
  <Application>Microsoft Office PowerPoint</Application>
  <PresentationFormat>Custom</PresentationFormat>
  <Paragraphs>128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Flight Delay Prediction An exploration of machine learning for predicting flight delays,.</vt:lpstr>
      <vt:lpstr>PowerPoint Presentation</vt:lpstr>
      <vt:lpstr>PowerPoint Presentation</vt:lpstr>
      <vt:lpstr>Motivation for Using Machine Learning Exploring the Benefits of machine Learning in Flight Delay Prediction</vt:lpstr>
      <vt:lpstr>PowerPoint Presentation</vt:lpstr>
      <vt:lpstr>PowerPoint Presentation</vt:lpstr>
      <vt:lpstr>PowerPoint Presentation</vt:lpstr>
      <vt:lpstr>Data Collection for Flight Delay Prediction Understanding the Importance of Data in Predictive Models</vt:lpstr>
      <vt:lpstr>PowerPoint Presentation</vt:lpstr>
      <vt:lpstr>Experimental Methodology A structured approach to evaluating the flight delay prediction system</vt:lpstr>
      <vt:lpstr>Results and Discussion Insights into the effectiveness and limitations of machine learning for flight delay prediction</vt:lpstr>
      <vt:lpstr>Machine learning models effectiveness Each model offers unique strengths and combining these through ensemble methods or stacking can often yield the most accurate and reliable predictions for flight delays.</vt:lpstr>
      <vt:lpstr>Machine learning models effectiveness Machine learning models are proven to be effective tools for predicting flight delays, offering reliable forecasts.</vt:lpstr>
      <vt:lpstr>Advantages and Disadvantages of the Application Exploring the pros and cons of machine learning in flight delay prediction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Delay Prediction An exploration of machine learning applications for predicting flight delays, including objectives, methodologies, and outcomes.</dc:title>
  <dc:creator>sai</dc:creator>
  <cp:lastModifiedBy>LENOVO</cp:lastModifiedBy>
  <cp:revision>41</cp:revision>
  <dcterms:created xsi:type="dcterms:W3CDTF">2024-11-01T11:25:39Z</dcterms:created>
  <dcterms:modified xsi:type="dcterms:W3CDTF">2024-11-02T04:39:06Z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2024-11-01T00:00:00Z</vt:filetime>
  </property>
  <property fmtid="{D5CDD505-2E9C-101B-9397-08002B2CF9AE}" pid="3" name="Producer">
    <vt:lpwstr>jsPDF 2.5.1</vt:lpwstr>
  </property>
  <property fmtid="{D5CDD505-2E9C-101B-9397-08002B2CF9AE}" pid="4" name="LastSaved">
    <vt:filetime>2024-11-01T00:00:00Z</vt:filetime>
  </property>
</Properties>
</file>